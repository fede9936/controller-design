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A8FC1-0418-4C52-B852-F65FF6F71283}" v="32" dt="2025-10-11T09:24:03.501"/>
    <p1510:client id="{7EC91AD0-C4BA-4F73-B943-0241CE9C142B}" v="440" dt="2025-10-11T11:11:11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97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3B95F8-C010-1AE1-BBC7-5B486F732B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32E46-4BB1-8C41-C789-B421F5B155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A794-7286-4695-8684-5349FD16D5BC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3447C-5B32-0A81-21A6-FB0FB82B0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E9CF5-E5AD-1579-8D31-791CB9D847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590F4-D9B5-4F6C-B1CB-2BE3552E60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9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81D95-1C61-407D-9594-99A9829EEA40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F8113-B5B8-4439-8A06-D34CE86340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03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2962-E753-6BA8-FF36-8BF3C43A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31E0C-D5DC-9B6D-5477-52CB55690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002F-ACFD-6479-CFA7-7E2A05F7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C6-5BDC-4C30-98F9-74F9AA818D0A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0B3C-F5BF-F2DE-292B-24ADB070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B79F4-E8B6-D9BD-E6CB-45029DEC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519A29-C083-15A4-EE8E-02A5114BD08C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0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0086-D65D-0F0B-817B-183F8435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7DAB-EE95-2013-3FA0-62BB0D59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4F56-E463-A23C-5ADE-C7D5F1AE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F11A-6B1B-85E6-8614-280743E9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C87A-1275-9E35-2E13-6853F5E8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28DC3C-04F7-3C74-47F3-AA21447A8E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65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17D7-B820-C34D-1059-2FFB2272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A81C-F182-0E37-7715-40BBC48E6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8A509-46D9-B6A4-108C-FCE794B3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E6C7-3888-4FA4-9BA6-16D991C40D3B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EFDA-658F-0696-C9C3-4002EDF3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CAEA-1ED9-9DD8-655B-AA0BD398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DC21A5-2726-8E73-341F-F50BF6180206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8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19B4-18A9-3B40-B993-A1984EBA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3056-F0E4-C3CE-F8E4-67030B62A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9BAC-0FC6-82E7-5935-E23EC6C0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CC21A-F0B1-541A-8E5F-2A392903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EF22-530E-434E-8E26-D4B801879EE5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2D07F-212D-D9E1-F610-A43C9B80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58854-DD17-8503-B219-44DB1A6F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38869-7EAF-C96B-34B8-D15AD6BFFB0E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80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29BA-7A7B-0CB6-77DB-7263CD75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BC4A1-9A5C-EA7E-4379-C3F2C8AA7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B61E-1674-5591-393E-371800FDD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C326D-B6D2-E517-2DA4-2F6B500D6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5BCE-E6DD-C3E0-D1A0-3C806F50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2D387-6992-07F7-F8F1-C83AD976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27E6-61A6-4EC6-A859-5D5FE0DCD202}" type="datetime1">
              <a:rPr lang="LID4096" smtClean="0"/>
              <a:t>10/11/2025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36F7C-C549-ADCA-617D-9CAC082D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2AB32-953F-2681-98BD-9546F422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D92BC-B15D-D0EB-928A-0F89AA8A9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FC3A-5575-AB7C-7812-2982F496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F16E7-ECB9-8504-0DD8-3DC22F0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17BA-F67A-48D3-9AB9-1892FB53DA93}" type="datetime1">
              <a:rPr lang="LID4096" smtClean="0"/>
              <a:t>10/11/2025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2B695-80FA-EE67-05E3-2DB98C56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6A54-32CA-FE77-D189-BD6E383A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15E13D-0694-5CFC-8778-9B98275D22EB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99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8DF03-22EF-7CA6-0CBE-DF746EA2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00EA-3E62-40BB-8BC4-D95CE08ADD3D}" type="datetime1">
              <a:rPr lang="LID4096" smtClean="0"/>
              <a:t>10/11/2025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C5596-7B20-267C-89F1-793C5720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0ED65-3899-CB71-A18E-E9A6C324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C07FE5-AFB6-D790-0FCF-3841CAF4E100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9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9907-E5BF-6D30-9429-E2BFBC79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8563-18D2-3688-688A-ADB0183B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4DA0B-B347-4B25-D4B3-8C665C1E1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42A1-DB06-4A9F-1A3E-1D4D0655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6E73-7337-44F1-AA36-B0E3F8A3B4C4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19BA-B4D0-0C87-2482-C9479129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0F02-AD03-002C-6B19-0B90304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501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9A77-A8D6-FEB6-E9FA-8A364AB6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CB1BC-016E-AFB5-EEBB-FA6BA810E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96D80-7379-C27A-ACD8-D82810C5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06174-7916-51F7-62AD-12C5D2DE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D2DEE-C8B1-453C-AF05-9B3BCCEA57F2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4122F-6B51-77A2-CBD1-F495AB05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CCE9B-74A6-E5AD-2940-F4E1EAB3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274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5F1A-D5C7-59CE-65CE-1AE1EEEE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4E51D-3B33-5B53-17F7-EB1B750C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24709-27B4-3D97-2B80-B3D8F47A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902D-3BD4-4E6E-9575-6A90A080DD73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DB856-BD13-300D-0EB9-008FFDA2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A13F-5665-F53F-DBB8-7F45D68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058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B4948-E984-009A-43F1-937A546DE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5881A-DA8B-0888-3E03-1530EF7BB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F83A-8A48-2578-ADDF-EE7CD9D5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9473-CBD0-468C-BC27-FD94E9807EC4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8181A-1310-84C7-05C3-30F1B285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07DBA-3E57-0507-983F-57A564AC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163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CC68E-F674-9F4A-F717-4ED71DA6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Exercise Number 1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FD8DE-DE09-9E05-48B7-7121EAFE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35CC-DACC-A3FB-79A0-67E153F09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EBA61-CB71-4CD7-B4F9-2538B5A908E0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E77-4498-E647-0A2D-3DD475B8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DE"/>
              <a:t>Group 3: group members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D7A62-8064-1B2D-3CA9-BAF520E9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pic>
        <p:nvPicPr>
          <p:cNvPr id="8" name="Picture 7" descr="A colorful squares with text&#10;&#10;AI-generated content may be incorrect.">
            <a:extLst>
              <a:ext uri="{FF2B5EF4-FFF2-40B4-BE49-F238E27FC236}">
                <a16:creationId xmlns:a16="http://schemas.microsoft.com/office/drawing/2014/main" id="{9489025A-229B-3639-223C-C10F2CD4041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259" y="365125"/>
            <a:ext cx="1698445" cy="11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1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emf"/><Relationship Id="rId7" Type="http://schemas.openxmlformats.org/officeDocument/2006/relationships/image" Target="../media/image27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0EAC-756A-60B6-38CA-FEA221960A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Controller design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6B3A-051D-D11E-4616-09A53BDD1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Presentation </a:t>
            </a:r>
            <a:r>
              <a:rPr lang="it-IT" dirty="0" err="1"/>
              <a:t>Exercise</a:t>
            </a:r>
            <a:r>
              <a:rPr lang="it-IT" dirty="0"/>
              <a:t> 2:</a:t>
            </a:r>
          </a:p>
          <a:p>
            <a:r>
              <a:rPr lang="it-IT" dirty="0"/>
              <a:t>Baseline Torque controller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1C7DF-E769-199A-7202-90CD1135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DF86-521C-4C1B-AD7C-7AA46D312C62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91B6-526A-391E-8A13-F0DE0ACC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86A1C-5B8D-4356-0704-541B7780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9101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E08B-F779-A8D8-4857-18AE607A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8F45-0137-9670-0923-3C7C7D97E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92" y="1635368"/>
            <a:ext cx="11078308" cy="4541594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b)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/>
              <a:t>determination</a:t>
            </a:r>
            <a:r>
              <a:rPr lang="it-IT" dirty="0"/>
              <a:t> for baseline controller:</a:t>
            </a:r>
          </a:p>
          <a:p>
            <a:pPr marL="457200" lvl="1" indent="0">
              <a:buNone/>
            </a:pPr>
            <a:r>
              <a:rPr lang="en-GB" dirty="0"/>
              <a:t>• </a:t>
            </a:r>
            <a:r>
              <a:rPr lang="en-GB" dirty="0" err="1"/>
              <a:t>Parameter.VSC.k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• </a:t>
            </a:r>
            <a:r>
              <a:rPr lang="en-GB" dirty="0" err="1"/>
              <a:t>Parameter.VSC.M_g_rated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• Parameter.VSC.a_1_5</a:t>
            </a:r>
          </a:p>
          <a:p>
            <a:pPr marL="457200" lvl="1" indent="0">
              <a:buNone/>
            </a:pPr>
            <a:r>
              <a:rPr lang="en-GB" dirty="0"/>
              <a:t>• Parameter.VSC.b_1_5</a:t>
            </a:r>
          </a:p>
          <a:p>
            <a:pPr marL="457200" lvl="1" indent="0">
              <a:buNone/>
            </a:pPr>
            <a:r>
              <a:rPr lang="en-GB" dirty="0"/>
              <a:t>• Parameter.VSC.a_2_5</a:t>
            </a:r>
          </a:p>
          <a:p>
            <a:pPr marL="457200" lvl="1" indent="0">
              <a:buNone/>
            </a:pPr>
            <a:r>
              <a:rPr lang="en-GB" dirty="0"/>
              <a:t>• Parameter.VSC.b_2_5</a:t>
            </a:r>
          </a:p>
          <a:p>
            <a:pPr marL="457200" lvl="1" indent="0">
              <a:buNone/>
            </a:pPr>
            <a:endParaRPr lang="en-GB" dirty="0"/>
          </a:p>
          <a:p>
            <a:pPr marL="0" lvl="1" indent="0">
              <a:buNone/>
            </a:pPr>
            <a:r>
              <a:rPr lang="en-GB" dirty="0"/>
              <a:t>Calculation in the </a:t>
            </a:r>
            <a:r>
              <a:rPr lang="en-GB" dirty="0">
                <a:solidFill>
                  <a:srgbClr val="FF0000"/>
                </a:solidFill>
              </a:rPr>
              <a:t>Exercise02_TorqueControllerDesign.m </a:t>
            </a:r>
            <a:r>
              <a:rPr lang="en-GB" dirty="0"/>
              <a:t>file and implementation for the simulation in the </a:t>
            </a:r>
            <a:r>
              <a:rPr lang="en-GB" dirty="0">
                <a:solidFill>
                  <a:srgbClr val="FF0000"/>
                </a:solidFill>
              </a:rPr>
              <a:t>NREL5MWDefaultParameter_FBNREL_TorqueController.m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2829-8391-29F5-695F-63BDB5D1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EF18C-C5B8-AB75-8D26-BE4CB08D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2</a:t>
            </a:fld>
            <a:endParaRPr lang="en-D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C079E31-6EBD-DDF9-5DF5-5F79F389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933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D67D-72BA-8377-1557-5E1C73DA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E838-1D4D-7A39-99CC-37A428DA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72236-BF73-6D5C-4FCC-BE14C2FC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A68EC-020C-EEEE-55F2-F5D9E085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3</a:t>
            </a:fld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495751-531F-BBFD-89AB-6B5F8B66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233"/>
            <a:ext cx="10515600" cy="1234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b) </a:t>
            </a:r>
            <a:r>
              <a:rPr lang="it-IT" sz="2000" dirty="0" err="1"/>
              <a:t>Parameter</a:t>
            </a:r>
            <a:r>
              <a:rPr lang="it-IT" sz="2000" dirty="0"/>
              <a:t> </a:t>
            </a:r>
            <a:r>
              <a:rPr lang="it-IT" sz="2000" dirty="0" err="1"/>
              <a:t>determination</a:t>
            </a:r>
            <a:r>
              <a:rPr lang="it-IT" sz="2000" dirty="0"/>
              <a:t> for baseline controller:</a:t>
            </a:r>
          </a:p>
          <a:p>
            <a:pPr marL="0" indent="0">
              <a:buNone/>
            </a:pPr>
            <a:r>
              <a:rPr lang="en-GB" sz="2000" dirty="0"/>
              <a:t>• </a:t>
            </a:r>
            <a:r>
              <a:rPr lang="en-GB" sz="2000" dirty="0" err="1"/>
              <a:t>Parameter.VSC.M_g_rated</a:t>
            </a:r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AA80E-6848-1A40-3EC4-5586D584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86" y="2468623"/>
            <a:ext cx="9593014" cy="1066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F3E1F6-5FE5-4E12-6A3E-566AD6F332CC}"/>
              </a:ext>
            </a:extLst>
          </p:cNvPr>
          <p:cNvSpPr txBox="1"/>
          <p:nvPr/>
        </p:nvSpPr>
        <p:spPr>
          <a:xfrm>
            <a:off x="838200" y="3702905"/>
            <a:ext cx="3991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• </a:t>
            </a:r>
            <a:r>
              <a:rPr lang="en-GB" sz="2000" dirty="0" err="1"/>
              <a:t>Parameter.VSC.k</a:t>
            </a:r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8455D3-7280-D81E-00EA-25FDA56A1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3351"/>
            <a:ext cx="7004914" cy="968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98D2B-D07D-6464-761B-15CA25AD1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09023"/>
            <a:ext cx="7004914" cy="640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F13917-22EA-6EB3-C71B-A57FFC8B3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46" y="5028086"/>
            <a:ext cx="7315200" cy="2856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A0906B-35BC-A227-D811-C688A71A2AD2}"/>
                  </a:ext>
                </a:extLst>
              </p:cNvPr>
              <p:cNvSpPr txBox="1"/>
              <p:nvPr/>
            </p:nvSpPr>
            <p:spPr>
              <a:xfrm>
                <a:off x="9367040" y="3183949"/>
                <a:ext cx="18595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=43093.6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A0906B-35BC-A227-D811-C688A71A2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040" y="3183949"/>
                <a:ext cx="1859574" cy="307777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25EA3-2050-37F0-42BE-F6DF30A0C865}"/>
                  </a:ext>
                </a:extLst>
              </p:cNvPr>
              <p:cNvSpPr txBox="1"/>
              <p:nvPr/>
            </p:nvSpPr>
            <p:spPr>
              <a:xfrm>
                <a:off x="9358248" y="5741235"/>
                <a:ext cx="18595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=2.32318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[−]</m:t>
                      </m:r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25EA3-2050-37F0-42BE-F6DF30A0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248" y="5741235"/>
                <a:ext cx="1859574" cy="307777"/>
              </a:xfrm>
              <a:prstGeom prst="rect">
                <a:avLst/>
              </a:prstGeom>
              <a:blipFill>
                <a:blip r:embed="rId7"/>
                <a:stretch>
                  <a:fillRect t="-2000" b="-3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20FE2E6-E720-62A8-A4AE-0A058452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816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4AEA-A562-308A-1BEB-DC8AA546E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EDB0-5111-66B1-9095-1254C6A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D0C4-E574-1B96-702F-234A813D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2AD2E-E4F1-5B52-9722-FE6E4D0C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4</a:t>
            </a:fld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38F374-7DFE-05E4-BBC2-C69F7009A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961811"/>
            <a:ext cx="10515600" cy="17145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• Parameter.VSC.a_2_5</a:t>
            </a:r>
          </a:p>
          <a:p>
            <a:pPr marL="0" indent="0">
              <a:buNone/>
            </a:pPr>
            <a:r>
              <a:rPr lang="en-GB" sz="2000" dirty="0"/>
              <a:t>• Parameter.VSC.b_2_5</a:t>
            </a: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4F11D-91DC-6075-AD89-34448D48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946013"/>
            <a:ext cx="5545015" cy="2015798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0374BA6-94FD-26C1-061D-52B5E16F9C03}"/>
              </a:ext>
            </a:extLst>
          </p:cNvPr>
          <p:cNvSpPr txBox="1">
            <a:spLocks/>
          </p:cNvSpPr>
          <p:nvPr/>
        </p:nvSpPr>
        <p:spPr>
          <a:xfrm>
            <a:off x="990600" y="1407255"/>
            <a:ext cx="10515600" cy="1714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b) </a:t>
            </a:r>
            <a:r>
              <a:rPr lang="it-IT" sz="2000" dirty="0" err="1"/>
              <a:t>Parameter</a:t>
            </a:r>
            <a:r>
              <a:rPr lang="it-IT" sz="2000" dirty="0"/>
              <a:t> </a:t>
            </a:r>
            <a:r>
              <a:rPr lang="it-IT" sz="2000" dirty="0" err="1"/>
              <a:t>determination</a:t>
            </a:r>
            <a:r>
              <a:rPr lang="it-IT" sz="2000" dirty="0"/>
              <a:t> for baseline controller: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2000" dirty="0"/>
              <a:t>• Parameter.VSC.a_1_5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• Parameter.VSC.b_1_5</a:t>
            </a:r>
            <a:endParaRPr lang="en-GB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2AB303-29DA-9132-A78B-00024902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029" y="4176346"/>
            <a:ext cx="5661434" cy="18655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FF1704-65B9-E46D-69F6-AFFA3E975AB4}"/>
                  </a:ext>
                </a:extLst>
              </p:cNvPr>
              <p:cNvSpPr txBox="1"/>
              <p:nvPr/>
            </p:nvSpPr>
            <p:spPr>
              <a:xfrm>
                <a:off x="8304335" y="3370373"/>
                <a:ext cx="1024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918.23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FF1704-65B9-E46D-69F6-AFFA3E97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35" y="3370373"/>
                <a:ext cx="1024318" cy="276999"/>
              </a:xfrm>
              <a:prstGeom prst="rect">
                <a:avLst/>
              </a:prstGeom>
              <a:blipFill>
                <a:blip r:embed="rId4"/>
                <a:stretch>
                  <a:fillRect l="-1786" r="-5952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8D537-46F0-D086-C47E-81C4C5E3B392}"/>
                  </a:ext>
                </a:extLst>
              </p:cNvPr>
              <p:cNvSpPr txBox="1"/>
              <p:nvPr/>
            </p:nvSpPr>
            <p:spPr>
              <a:xfrm>
                <a:off x="8307270" y="3637073"/>
                <a:ext cx="11782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=-64425.1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8D537-46F0-D086-C47E-81C4C5E3B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270" y="3637073"/>
                <a:ext cx="1178208" cy="276999"/>
              </a:xfrm>
              <a:prstGeom prst="rect">
                <a:avLst/>
              </a:prstGeom>
              <a:blipFill>
                <a:blip r:embed="rId5"/>
                <a:stretch>
                  <a:fillRect l="-2073" r="-5181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0A76FB-8BE3-29AD-3295-6A27A193037E}"/>
                  </a:ext>
                </a:extLst>
              </p:cNvPr>
              <p:cNvSpPr txBox="1"/>
              <p:nvPr/>
            </p:nvSpPr>
            <p:spPr>
              <a:xfrm>
                <a:off x="8301400" y="5383582"/>
                <a:ext cx="1101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=3915.26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0A76FB-8BE3-29AD-3295-6A27A1930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400" y="5383582"/>
                <a:ext cx="1101264" cy="276999"/>
              </a:xfrm>
              <a:prstGeom prst="rect">
                <a:avLst/>
              </a:prstGeom>
              <a:blipFill>
                <a:blip r:embed="rId6"/>
                <a:stretch>
                  <a:fillRect l="-2222" r="-5556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5E095B-538B-C021-B036-5F246B5DF091}"/>
                  </a:ext>
                </a:extLst>
              </p:cNvPr>
              <p:cNvSpPr txBox="1"/>
              <p:nvPr/>
            </p:nvSpPr>
            <p:spPr>
              <a:xfrm>
                <a:off x="8304335" y="5650282"/>
                <a:ext cx="1134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-438130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5E095B-538B-C021-B036-5F246B5D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35" y="5650282"/>
                <a:ext cx="1134926" cy="276999"/>
              </a:xfrm>
              <a:prstGeom prst="rect">
                <a:avLst/>
              </a:prstGeom>
              <a:blipFill>
                <a:blip r:embed="rId7"/>
                <a:stretch>
                  <a:fillRect l="-1613" r="-5376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B2BB8E8-4C0E-16F1-AFAA-9BB21E1A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537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4569-F5A3-29B2-22F7-6FC5939F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359D-5956-C5D2-478A-F0E2388E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D795-43C7-448F-2853-A3C156AD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0FB7-64DA-6954-AB2B-E926E767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5</a:t>
            </a:fld>
            <a:endParaRPr lang="en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80CE663F-93A9-CE0D-D036-5C554E139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84692"/>
                <a:ext cx="10515600" cy="7644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it-IT" sz="2000" dirty="0"/>
                  <a:t>c) </a:t>
                </a:r>
                <a:r>
                  <a:rPr lang="it-IT" sz="2000" dirty="0" err="1"/>
                  <a:t>Calculate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it-IT" sz="2000" dirty="0"/>
                  <a:t> and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2000" dirty="0"/>
                  <a:t> to </a:t>
                </a:r>
                <a:r>
                  <a:rPr lang="it-IT" sz="2000" dirty="0" err="1"/>
                  <a:t>reach</a:t>
                </a:r>
                <a:r>
                  <a:rPr lang="it-IT" sz="2000" dirty="0"/>
                  <a:t> a </a:t>
                </a:r>
                <a:r>
                  <a:rPr lang="it-IT" sz="2000" dirty="0" err="1"/>
                  <a:t>higher</a:t>
                </a:r>
                <a:r>
                  <a:rPr lang="it-IT" sz="2000" dirty="0"/>
                  <a:t> </a:t>
                </a:r>
                <a:r>
                  <a:rPr lang="it-IT" sz="2000" dirty="0" err="1"/>
                  <a:t>value</a:t>
                </a:r>
                <a:r>
                  <a:rPr lang="it-IT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it-IT" sz="2000" dirty="0"/>
              </a:p>
            </p:txBody>
          </p:sp>
        </mc:Choice>
        <mc:Fallback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80CE663F-93A9-CE0D-D036-5C554E1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84692"/>
                <a:ext cx="10515600" cy="764445"/>
              </a:xfrm>
              <a:prstGeom prst="rect">
                <a:avLst/>
              </a:prstGeom>
              <a:blipFill>
                <a:blip r:embed="rId2"/>
                <a:stretch>
                  <a:fillRect l="-638" t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7">
                <a:extLst>
                  <a:ext uri="{FF2B5EF4-FFF2-40B4-BE49-F238E27FC236}">
                    <a16:creationId xmlns:a16="http://schemas.microsoft.com/office/drawing/2014/main" id="{9A67CC35-D011-3B6A-3284-B843C8A3BF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45810"/>
                <a:ext cx="10515600" cy="7644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it-IT" sz="2000" dirty="0">
                    <a:latin typeface="Monospaced"/>
                  </a:rPr>
                  <a:t>We </a:t>
                </a:r>
                <a:r>
                  <a:rPr lang="it-IT" sz="2000" dirty="0" err="1">
                    <a:latin typeface="Monospaced"/>
                  </a:rPr>
                  <a:t>calculate</a:t>
                </a:r>
                <a:r>
                  <a:rPr lang="it-IT" sz="2000" dirty="0">
                    <a:latin typeface="Monospaced"/>
                  </a:rPr>
                  <a:t>, for a </a:t>
                </a:r>
                <a:r>
                  <a:rPr lang="it-IT" sz="2000" dirty="0" err="1">
                    <a:latin typeface="Monospaced"/>
                  </a:rPr>
                  <a:t>reference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value</a:t>
                </a:r>
                <a:r>
                  <a:rPr lang="it-IT" sz="2000" dirty="0">
                    <a:latin typeface="Monospaced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Monospaced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Monospaced"/>
                          </a:rPr>
                          <m:t>𝑐</m:t>
                        </m:r>
                      </m:e>
                      <m:sub>
                        <m:r>
                          <a:rPr lang="it-IT" sz="2000" b="0" i="1" smtClean="0">
                            <a:latin typeface="Monospaced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2000" dirty="0">
                    <a:latin typeface="Monospaced"/>
                  </a:rPr>
                  <a:t> the maximum </a:t>
                </a:r>
                <a:r>
                  <a:rPr lang="it-IT" sz="2000" dirty="0" err="1">
                    <a:latin typeface="Monospaced"/>
                  </a:rPr>
                  <a:t>value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that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we</a:t>
                </a:r>
                <a:r>
                  <a:rPr lang="it-IT" sz="2000" dirty="0">
                    <a:latin typeface="Monospaced"/>
                  </a:rPr>
                  <a:t> can </a:t>
                </a:r>
                <a:r>
                  <a:rPr lang="it-IT" sz="2000" dirty="0" err="1">
                    <a:latin typeface="Monospaced"/>
                  </a:rPr>
                  <a:t>find</a:t>
                </a:r>
                <a:r>
                  <a:rPr lang="it-IT" sz="2000" dirty="0">
                    <a:latin typeface="Monospaced"/>
                  </a:rPr>
                  <a:t>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Monospaced"/>
                          </a:rPr>
                        </m:ctrlPr>
                      </m:sSubPr>
                      <m:e>
                        <m:r>
                          <a:rPr lang="it-IT" sz="2000" i="1">
                            <a:latin typeface="Monospaced"/>
                          </a:rPr>
                          <m:t>𝑐</m:t>
                        </m:r>
                      </m:e>
                      <m:sub>
                        <m:r>
                          <a:rPr lang="it-IT" sz="2000" i="1">
                            <a:latin typeface="Monospaced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matrix</a:t>
                </a:r>
                <a:r>
                  <a:rPr lang="it-IT" sz="2000" dirty="0">
                    <a:latin typeface="Monospaced"/>
                  </a:rPr>
                  <a:t>:</a:t>
                </a:r>
              </a:p>
              <a:p>
                <a:pPr marL="0" indent="0">
                  <a:buNone/>
                </a:pPr>
                <a:endParaRPr lang="it-IT" sz="2000" dirty="0">
                  <a:latin typeface="Monospaced"/>
                </a:endParaRPr>
              </a:p>
              <a:p>
                <a:pPr marL="0" indent="0">
                  <a:buNone/>
                </a:pPr>
                <a:endParaRPr lang="it-IT" sz="2000" dirty="0">
                  <a:latin typeface="Monospaced"/>
                </a:endParaRPr>
              </a:p>
            </p:txBody>
          </p:sp>
        </mc:Choice>
        <mc:Fallback>
          <p:sp>
            <p:nvSpPr>
              <p:cNvPr id="11" name="Content Placeholder 7">
                <a:extLst>
                  <a:ext uri="{FF2B5EF4-FFF2-40B4-BE49-F238E27FC236}">
                    <a16:creationId xmlns:a16="http://schemas.microsoft.com/office/drawing/2014/main" id="{9A67CC35-D011-3B6A-3284-B843C8A3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45810"/>
                <a:ext cx="10515600" cy="764445"/>
              </a:xfrm>
              <a:prstGeom prst="rect">
                <a:avLst/>
              </a:prstGeom>
              <a:blipFill>
                <a:blip r:embed="rId3"/>
                <a:stretch>
                  <a:fillRect l="-638" t="-7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919CF99-C5DF-D9A6-E311-3009DDFA1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51822"/>
            <a:ext cx="7668695" cy="1371791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5BB39634-D3CC-DBCC-7701-7C70E54FEBC6}"/>
              </a:ext>
            </a:extLst>
          </p:cNvPr>
          <p:cNvSpPr txBox="1">
            <a:spLocks/>
          </p:cNvSpPr>
          <p:nvPr/>
        </p:nvSpPr>
        <p:spPr>
          <a:xfrm>
            <a:off x="665284" y="4326298"/>
            <a:ext cx="10861431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dirty="0">
                <a:latin typeface="Monospaced"/>
              </a:rPr>
              <a:t>We </a:t>
            </a:r>
            <a:r>
              <a:rPr lang="it-IT" sz="2000" dirty="0" err="1">
                <a:latin typeface="Monospaced"/>
              </a:rPr>
              <a:t>calculate</a:t>
            </a:r>
            <a:r>
              <a:rPr lang="it-IT" sz="2000" dirty="0">
                <a:latin typeface="Monospaced"/>
              </a:rPr>
              <a:t>, </a:t>
            </a:r>
            <a:r>
              <a:rPr lang="it-IT" sz="2000" dirty="0" err="1">
                <a:latin typeface="Monospaced"/>
              </a:rPr>
              <a:t>then</a:t>
            </a:r>
            <a:r>
              <a:rPr lang="it-IT" sz="2000" dirty="0">
                <a:latin typeface="Monospaced"/>
              </a:rPr>
              <a:t>, the </a:t>
            </a:r>
            <a:r>
              <a:rPr lang="it-IT" sz="2000" dirty="0" err="1">
                <a:latin typeface="Monospaced"/>
              </a:rPr>
              <a:t>additional</a:t>
            </a:r>
            <a:r>
              <a:rPr lang="it-IT" sz="2000" dirty="0">
                <a:latin typeface="Monospaced"/>
              </a:rPr>
              <a:t> power for the turbine for </a:t>
            </a:r>
            <a:r>
              <a:rPr lang="it-IT" sz="2000" dirty="0" err="1">
                <a:latin typeface="Monospaced"/>
              </a:rPr>
              <a:t>this</a:t>
            </a:r>
            <a:r>
              <a:rPr lang="it-IT" sz="2000" dirty="0">
                <a:latin typeface="Monospaced"/>
              </a:rPr>
              <a:t> new  power </a:t>
            </a:r>
            <a:r>
              <a:rPr lang="it-IT" sz="2000" dirty="0" err="1">
                <a:latin typeface="Monospaced"/>
              </a:rPr>
              <a:t>coefficient</a:t>
            </a:r>
            <a:r>
              <a:rPr lang="it-IT" sz="2000" dirty="0">
                <a:latin typeface="Monospaced"/>
              </a:rPr>
              <a:t> </a:t>
            </a:r>
            <a:r>
              <a:rPr lang="it-IT" sz="2000" dirty="0" err="1">
                <a:latin typeface="Monospaced"/>
              </a:rPr>
              <a:t>as</a:t>
            </a:r>
            <a:r>
              <a:rPr lang="it-IT" sz="2000" dirty="0">
                <a:latin typeface="Monospaced"/>
              </a:rPr>
              <a:t> a </a:t>
            </a:r>
            <a:r>
              <a:rPr lang="it-IT" sz="2000" dirty="0" err="1">
                <a:latin typeface="Monospaced"/>
              </a:rPr>
              <a:t>percentage</a:t>
            </a:r>
            <a:endParaRPr lang="it-IT" sz="2000" dirty="0">
              <a:latin typeface="Monospaced"/>
            </a:endParaRPr>
          </a:p>
          <a:p>
            <a:pPr marL="0" indent="0">
              <a:buNone/>
            </a:pPr>
            <a:endParaRPr lang="it-IT" sz="2000" dirty="0">
              <a:latin typeface="Monospace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012359-E88C-0586-39CF-69B5ADBA3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72" y="4917693"/>
            <a:ext cx="9897856" cy="743054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F7060D6-E30F-D8B9-7DE1-AEBC2B29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54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C4AC-7ED6-ACF9-8559-4E646007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13B2-D733-6934-4A18-CCEFE1D7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9DF7BC0-6B4E-FC01-941F-68DDFE781760}"/>
              </a:ext>
            </a:extLst>
          </p:cNvPr>
          <p:cNvSpPr txBox="1">
            <a:spLocks/>
          </p:cNvSpPr>
          <p:nvPr/>
        </p:nvSpPr>
        <p:spPr>
          <a:xfrm>
            <a:off x="838200" y="1584692"/>
            <a:ext cx="10515600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d) </a:t>
            </a:r>
            <a:r>
              <a:rPr lang="it-IT" sz="2000" dirty="0" err="1"/>
              <a:t>Implementation</a:t>
            </a:r>
            <a:r>
              <a:rPr lang="it-IT" sz="2000" dirty="0"/>
              <a:t> of the </a:t>
            </a:r>
            <a:r>
              <a:rPr lang="it-IT" sz="2000" dirty="0" err="1"/>
              <a:t>function</a:t>
            </a:r>
            <a:r>
              <a:rPr lang="it-IT" sz="2000" dirty="0"/>
              <a:t> inside of the baseline controller inside of the </a:t>
            </a:r>
            <a:r>
              <a:rPr lang="it-IT" sz="2000" dirty="0" err="1"/>
              <a:t>Simulink</a:t>
            </a:r>
            <a:r>
              <a:rPr lang="it-IT" sz="2000" dirty="0"/>
              <a:t> </a:t>
            </a:r>
            <a:r>
              <a:rPr lang="it-IT" sz="2000" dirty="0" err="1"/>
              <a:t>structure</a:t>
            </a:r>
            <a:endParaRPr lang="it-IT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006BA-D8A1-94F3-5B6A-3286E0A1A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9" y="2667463"/>
            <a:ext cx="3608811" cy="22034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59BD24-084B-72E6-FC2F-5252F52D2E95}"/>
              </a:ext>
            </a:extLst>
          </p:cNvPr>
          <p:cNvSpPr/>
          <p:nvPr/>
        </p:nvSpPr>
        <p:spPr>
          <a:xfrm>
            <a:off x="1222928" y="3429000"/>
            <a:ext cx="1071864" cy="1160585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FE6F24-9361-189D-F3DC-EDAB6E1E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458" y="2588720"/>
            <a:ext cx="3586076" cy="234337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40526FA-9961-ED2B-BCA8-B2EECC49DAD6}"/>
              </a:ext>
            </a:extLst>
          </p:cNvPr>
          <p:cNvSpPr/>
          <p:nvPr/>
        </p:nvSpPr>
        <p:spPr>
          <a:xfrm>
            <a:off x="3807077" y="3760408"/>
            <a:ext cx="940777" cy="345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989B3C4-E700-D3E7-7D74-AECA184357A8}"/>
              </a:ext>
            </a:extLst>
          </p:cNvPr>
          <p:cNvSpPr/>
          <p:nvPr/>
        </p:nvSpPr>
        <p:spPr>
          <a:xfrm>
            <a:off x="7763438" y="3760408"/>
            <a:ext cx="940777" cy="345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F4EBA4-580E-9CA4-21DA-B23D88549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638" y="2588720"/>
            <a:ext cx="3188193" cy="257360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FDC3FA-3188-CEEF-7C4C-700222B78A6C}"/>
              </a:ext>
            </a:extLst>
          </p:cNvPr>
          <p:cNvSpPr/>
          <p:nvPr/>
        </p:nvSpPr>
        <p:spPr>
          <a:xfrm>
            <a:off x="6005147" y="2910255"/>
            <a:ext cx="1161788" cy="850153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14D13847-40F8-53BC-2DAA-ECB9D41A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BE84831-418F-09CC-8AE1-7AD484DC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6</a:t>
            </a:fld>
            <a:endParaRPr lang="en-DE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7B8FE055-906D-DD28-7D1E-38EE56E3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797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E1A2-67DE-5D69-B285-8EAAC83E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38F5-5E40-08B1-B92C-C423E3A8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115E864-91FB-98B0-C139-D03889A8FB7B}"/>
              </a:ext>
            </a:extLst>
          </p:cNvPr>
          <p:cNvSpPr txBox="1">
            <a:spLocks/>
          </p:cNvSpPr>
          <p:nvPr/>
        </p:nvSpPr>
        <p:spPr>
          <a:xfrm>
            <a:off x="838200" y="1584692"/>
            <a:ext cx="10515600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d) </a:t>
            </a:r>
            <a:r>
              <a:rPr lang="it-IT" sz="2000" dirty="0" err="1"/>
              <a:t>Implementation</a:t>
            </a:r>
            <a:r>
              <a:rPr lang="it-IT" sz="2000" dirty="0"/>
              <a:t> of the </a:t>
            </a:r>
            <a:r>
              <a:rPr lang="it-IT" sz="2000" dirty="0" err="1"/>
              <a:t>function</a:t>
            </a:r>
            <a:r>
              <a:rPr lang="it-IT" sz="2000" dirty="0"/>
              <a:t> inside of the baseline controller inside of the </a:t>
            </a:r>
            <a:r>
              <a:rPr lang="it-IT" sz="2000" dirty="0" err="1"/>
              <a:t>Simulink</a:t>
            </a:r>
            <a:r>
              <a:rPr lang="it-IT" sz="2000" dirty="0"/>
              <a:t> </a:t>
            </a:r>
            <a:r>
              <a:rPr lang="it-IT" sz="2000" dirty="0" err="1"/>
              <a:t>structure</a:t>
            </a:r>
            <a:endParaRPr lang="it-IT" sz="20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01031B6-1B35-DCE2-ECE9-232F5370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5B4B041E-A183-69CB-9A73-D956B5B0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7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53EAC-9690-CC77-63F3-A03441FD1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001" y="2279705"/>
            <a:ext cx="4090767" cy="3740727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D1C38F25-43FB-3B11-6260-9B9A1EDE0663}"/>
              </a:ext>
            </a:extLst>
          </p:cNvPr>
          <p:cNvSpPr/>
          <p:nvPr/>
        </p:nvSpPr>
        <p:spPr>
          <a:xfrm>
            <a:off x="7430971" y="517631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5FF5D-4462-F408-8790-5F17E00F8941}"/>
              </a:ext>
            </a:extLst>
          </p:cNvPr>
          <p:cNvSpPr txBox="1"/>
          <p:nvPr/>
        </p:nvSpPr>
        <p:spPr>
          <a:xfrm>
            <a:off x="7911616" y="3857176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3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98A1E78-653E-7D8B-5153-7810CCA22B69}"/>
              </a:ext>
            </a:extLst>
          </p:cNvPr>
          <p:cNvSpPr/>
          <p:nvPr/>
        </p:nvSpPr>
        <p:spPr>
          <a:xfrm>
            <a:off x="7435220" y="391699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110CD-FC44-150A-7376-9344BEF58749}"/>
              </a:ext>
            </a:extLst>
          </p:cNvPr>
          <p:cNvSpPr txBox="1"/>
          <p:nvPr/>
        </p:nvSpPr>
        <p:spPr>
          <a:xfrm>
            <a:off x="7911616" y="5084195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1.5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92393E32-62B8-AC55-7DC6-71DE8743A87E}"/>
              </a:ext>
            </a:extLst>
          </p:cNvPr>
          <p:cNvSpPr/>
          <p:nvPr/>
        </p:nvSpPr>
        <p:spPr>
          <a:xfrm>
            <a:off x="7420713" y="4355272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4DA80-1832-B463-098E-9182D4187087}"/>
              </a:ext>
            </a:extLst>
          </p:cNvPr>
          <p:cNvSpPr txBox="1"/>
          <p:nvPr/>
        </p:nvSpPr>
        <p:spPr>
          <a:xfrm>
            <a:off x="7864722" y="4322651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2.5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1CB073E3-519F-4CC1-F8AB-BC75DD253C4B}"/>
              </a:ext>
            </a:extLst>
          </p:cNvPr>
          <p:cNvSpPr/>
          <p:nvPr/>
        </p:nvSpPr>
        <p:spPr>
          <a:xfrm>
            <a:off x="7420713" y="479260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79D8D9-4D4D-3E19-2C55-C83E644BE9AC}"/>
              </a:ext>
            </a:extLst>
          </p:cNvPr>
          <p:cNvSpPr txBox="1"/>
          <p:nvPr/>
        </p:nvSpPr>
        <p:spPr>
          <a:xfrm>
            <a:off x="7911616" y="4723400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2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26FCE02-C2D3-BC44-E00E-BE24C2552D89}"/>
              </a:ext>
            </a:extLst>
          </p:cNvPr>
          <p:cNvSpPr/>
          <p:nvPr/>
        </p:nvSpPr>
        <p:spPr>
          <a:xfrm>
            <a:off x="7420713" y="5496709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A9127A-F7F5-1839-F455-BA5891DD79D2}"/>
              </a:ext>
            </a:extLst>
          </p:cNvPr>
          <p:cNvSpPr txBox="1"/>
          <p:nvPr/>
        </p:nvSpPr>
        <p:spPr>
          <a:xfrm>
            <a:off x="7927734" y="5404590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1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B4F524EF-A805-4DBD-45D4-9C469767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26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C94A-C94E-F70C-D48E-3DD924D0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EA08-1906-701C-84B1-FB56CAB3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0A27FA3-31C0-F509-47D9-AA895A9935B3}"/>
              </a:ext>
            </a:extLst>
          </p:cNvPr>
          <p:cNvSpPr txBox="1">
            <a:spLocks/>
          </p:cNvSpPr>
          <p:nvPr/>
        </p:nvSpPr>
        <p:spPr>
          <a:xfrm>
            <a:off x="784412" y="1546744"/>
            <a:ext cx="10515600" cy="506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e) Does the torque controller </a:t>
            </a:r>
            <a:r>
              <a:rPr lang="en-GB" sz="2000" b="1" dirty="0" err="1"/>
              <a:t>fulfill</a:t>
            </a:r>
            <a:r>
              <a:rPr lang="en-GB" sz="2000" b="1" dirty="0"/>
              <a:t> the design goal?</a:t>
            </a:r>
            <a:endParaRPr lang="it-IT" sz="1600" b="1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6D5ECC42-957F-A39B-EE27-53D9BEC0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0B706B1-5C2F-8D95-F90F-85AFAB31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8</a:t>
            </a:fld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2DFB05-BFB6-8575-0F2F-ED991E51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33" y="2053065"/>
            <a:ext cx="5855675" cy="920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72690A-C345-7B5E-7529-7F78006F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11" y="3096943"/>
            <a:ext cx="5840561" cy="920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472768-0FE8-7F8D-7EA3-29159F455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32" y="4145812"/>
            <a:ext cx="5855675" cy="919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0CFA10-EF14-E8D7-12DF-C53B5CD80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32" y="5189689"/>
            <a:ext cx="5878830" cy="957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707B1E-5311-C876-9D60-302258B07CED}"/>
                  </a:ext>
                </a:extLst>
              </p:cNvPr>
              <p:cNvSpPr txBox="1"/>
              <p:nvPr/>
            </p:nvSpPr>
            <p:spPr>
              <a:xfrm>
                <a:off x="7217620" y="2722703"/>
                <a:ext cx="3921369" cy="2329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Design goals: </a:t>
                </a:r>
              </a:p>
              <a:p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The </a:t>
                </a:r>
                <a:r>
                  <a:rPr lang="it-IT" dirty="0" err="1"/>
                  <a:t>parameters</a:t>
                </a:r>
                <a:r>
                  <a:rPr lang="it-IT" dirty="0"/>
                  <a:t> are </a:t>
                </a:r>
                <a:r>
                  <a:rPr lang="it-IT" dirty="0" err="1"/>
                  <a:t>constant</a:t>
                </a:r>
                <a:r>
                  <a:rPr lang="it-IT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parameters adapt so that after the wind step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the value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tends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707B1E-5311-C876-9D60-302258B07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620" y="2722703"/>
                <a:ext cx="3921369" cy="2329740"/>
              </a:xfrm>
              <a:prstGeom prst="rect">
                <a:avLst/>
              </a:prstGeom>
              <a:blipFill>
                <a:blip r:embed="rId6"/>
                <a:stretch>
                  <a:fillRect l="-1400" t="-1309" r="-933" b="-28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Graphic 30" descr="Tick with solid fill">
            <a:extLst>
              <a:ext uri="{FF2B5EF4-FFF2-40B4-BE49-F238E27FC236}">
                <a16:creationId xmlns:a16="http://schemas.microsoft.com/office/drawing/2014/main" id="{554BB4DC-983F-19B2-6825-D0F71AFE5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6851" y="3410309"/>
            <a:ext cx="506321" cy="506321"/>
          </a:xfrm>
          <a:prstGeom prst="rect">
            <a:avLst/>
          </a:prstGeom>
        </p:spPr>
      </p:pic>
      <p:pic>
        <p:nvPicPr>
          <p:cNvPr id="32" name="Graphic 31" descr="Tick with solid fill">
            <a:extLst>
              <a:ext uri="{FF2B5EF4-FFF2-40B4-BE49-F238E27FC236}">
                <a16:creationId xmlns:a16="http://schemas.microsoft.com/office/drawing/2014/main" id="{97740336-5B3B-1F72-EB8F-E016BC7558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8989" y="4377008"/>
            <a:ext cx="506321" cy="506321"/>
          </a:xfrm>
          <a:prstGeom prst="rect">
            <a:avLst/>
          </a:prstGeom>
        </p:spPr>
      </p:pic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AF108CE8-1F97-3D19-668D-DD9A9FE4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550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0B68-C6BD-E3F5-6593-A82EBA51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9CF1-9E8B-D0B3-9510-0AF1A6AA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444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2 – Test of a Baseline controller </a:t>
            </a:r>
            <a:endParaRPr lang="en-GB" sz="38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80F8ADFD-317F-859B-23B6-71E56D73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496C03A-107B-6F73-7FC2-31A34AD9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9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2DEC2-68B9-E94C-F946-84845CA72ADD}"/>
              </a:ext>
            </a:extLst>
          </p:cNvPr>
          <p:cNvSpPr txBox="1"/>
          <p:nvPr/>
        </p:nvSpPr>
        <p:spPr>
          <a:xfrm>
            <a:off x="838200" y="123474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a) </a:t>
            </a:r>
            <a:r>
              <a:rPr lang="it-IT" dirty="0" err="1"/>
              <a:t>Comparison</a:t>
            </a:r>
            <a:r>
              <a:rPr lang="it-IT" dirty="0"/>
              <a:t> with FAST: FAST </a:t>
            </a:r>
            <a:r>
              <a:rPr lang="it-IT" dirty="0" err="1"/>
              <a:t>implementation</a:t>
            </a:r>
            <a:r>
              <a:rPr lang="it-IT" dirty="0"/>
              <a:t> on MATLAB: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C3343-ABED-6AFC-0A62-9DE826629774}"/>
              </a:ext>
            </a:extLst>
          </p:cNvPr>
          <p:cNvSpPr txBox="1"/>
          <p:nvPr/>
        </p:nvSpPr>
        <p:spPr>
          <a:xfrm>
            <a:off x="838200" y="1661749"/>
            <a:ext cx="356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Processing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E1760-BF5B-1256-090E-12EA025B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12" y="2042339"/>
            <a:ext cx="6886188" cy="153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23360-4E17-E19F-25FD-2C46D20D9064}"/>
              </a:ext>
            </a:extLst>
          </p:cNvPr>
          <p:cNvSpPr txBox="1"/>
          <p:nvPr/>
        </p:nvSpPr>
        <p:spPr>
          <a:xfrm>
            <a:off x="838200" y="3590291"/>
            <a:ext cx="356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Post Processing</a:t>
            </a:r>
            <a:endParaRPr lang="en-GB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FE9AE4-6758-04D6-BA88-009286A40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12" y="3959623"/>
            <a:ext cx="5236047" cy="1877956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9EF36E1-ECB6-CE92-7A8B-C884EB8F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889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03F2-6D9F-3DA0-6A69-F03F1B18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FDEB-63F6-F3A7-EDBC-0345DF9E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94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2 – Test of a Baseline controller </a:t>
            </a:r>
            <a:endParaRPr lang="en-GB" sz="38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5F254CC9-3B29-3CA5-D991-9994CB06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46A20A1-757E-2040-9358-CB5B9FEC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10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97491-204B-98A8-3559-FE44DACA817C}"/>
              </a:ext>
            </a:extLst>
          </p:cNvPr>
          <p:cNvSpPr txBox="1"/>
          <p:nvPr/>
        </p:nvSpPr>
        <p:spPr>
          <a:xfrm>
            <a:off x="838200" y="131387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b) </a:t>
            </a:r>
            <a:r>
              <a:rPr lang="it-IT" dirty="0" err="1"/>
              <a:t>Comparison</a:t>
            </a:r>
            <a:r>
              <a:rPr lang="it-IT" dirty="0"/>
              <a:t> with FAST: </a:t>
            </a:r>
            <a:r>
              <a:rPr lang="it-IT" dirty="0" err="1"/>
              <a:t>comparison</a:t>
            </a:r>
            <a:r>
              <a:rPr lang="it-IT" dirty="0"/>
              <a:t> with fast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E7A01-FED3-AF07-2A03-60584C8A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4" y="1876136"/>
            <a:ext cx="5891022" cy="840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1100B0-D46A-F2CD-22F6-D534CC41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84" y="2878019"/>
            <a:ext cx="5891022" cy="755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ED87BA-92E6-FF78-B887-E0D95448C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54" y="3694824"/>
            <a:ext cx="5957081" cy="840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73B0E0-A1AB-5D3B-E24A-A11F620D6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26" y="4764147"/>
            <a:ext cx="5957080" cy="9432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4F95BC-175B-7FAD-42F7-6516B8B1FAE7}"/>
              </a:ext>
            </a:extLst>
          </p:cNvPr>
          <p:cNvSpPr txBox="1"/>
          <p:nvPr/>
        </p:nvSpPr>
        <p:spPr>
          <a:xfrm>
            <a:off x="6244738" y="206834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u="none" strike="noStrike" baseline="0" dirty="0">
                <a:latin typeface="LMRoman10-Regular"/>
              </a:rPr>
              <a:t>How do model uncertainties impact the </a:t>
            </a:r>
            <a:r>
              <a:rPr lang="en-GB" sz="1800" b="1" i="0" u="none" strike="noStrike" baseline="0" dirty="0" err="1">
                <a:latin typeface="LMRoman10-Regular"/>
              </a:rPr>
              <a:t>behavior</a:t>
            </a:r>
            <a:r>
              <a:rPr lang="en-GB" sz="1800" b="1" i="0" u="none" strike="noStrike" baseline="0" dirty="0">
                <a:latin typeface="LMRoman10-Regular"/>
              </a:rPr>
              <a:t>?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E8BC1-EE95-F0B6-1C92-01CADDCECAEC}"/>
              </a:ext>
            </a:extLst>
          </p:cNvPr>
          <p:cNvSpPr txBox="1"/>
          <p:nvPr/>
        </p:nvSpPr>
        <p:spPr>
          <a:xfrm>
            <a:off x="6838275" y="2437823"/>
            <a:ext cx="45485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oscillations</a:t>
            </a:r>
            <a:r>
              <a:rPr lang="it-IT" dirty="0"/>
              <a:t> for the FAST model are </a:t>
            </a:r>
            <a:r>
              <a:rPr lang="it-IT" dirty="0" err="1"/>
              <a:t>probably</a:t>
            </a:r>
            <a:r>
              <a:rPr lang="it-IT" dirty="0"/>
              <a:t> due to the </a:t>
            </a:r>
            <a:r>
              <a:rPr lang="it-IT" dirty="0" err="1"/>
              <a:t>adaptation</a:t>
            </a:r>
            <a:r>
              <a:rPr lang="it-IT" dirty="0"/>
              <a:t> of the model to the wind </a:t>
            </a:r>
            <a:r>
              <a:rPr lang="it-IT" dirty="0" err="1"/>
              <a:t>characteristics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for the </a:t>
            </a:r>
            <a:r>
              <a:rPr lang="it-IT" dirty="0" err="1"/>
              <a:t>rest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models are following </a:t>
            </a:r>
            <a:r>
              <a:rPr lang="it-IT" dirty="0" err="1"/>
              <a:t>almost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trend.</a:t>
            </a:r>
          </a:p>
          <a:p>
            <a:r>
              <a:rPr lang="it-IT" dirty="0"/>
              <a:t>The </a:t>
            </a:r>
            <a:r>
              <a:rPr lang="it-IT" dirty="0" err="1"/>
              <a:t>only</a:t>
            </a:r>
            <a:r>
              <a:rPr lang="it-IT" dirty="0"/>
              <a:t> part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and, for </a:t>
            </a:r>
            <a:r>
              <a:rPr lang="it-IT" dirty="0" err="1"/>
              <a:t>which</a:t>
            </a:r>
            <a:r>
              <a:rPr lang="it-IT" dirty="0"/>
              <a:t>, the </a:t>
            </a:r>
            <a:r>
              <a:rPr lang="it-IT" dirty="0" err="1"/>
              <a:t>adaptation</a:t>
            </a:r>
            <a:r>
              <a:rPr lang="it-IT" dirty="0"/>
              <a:t> by FAST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smooth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one for SLOW (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simplified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the time </a:t>
            </a:r>
            <a:r>
              <a:rPr lang="it-IT" dirty="0" err="1"/>
              <a:t>period</a:t>
            </a:r>
            <a:r>
              <a:rPr lang="it-IT" dirty="0"/>
              <a:t> after the time step.</a:t>
            </a:r>
          </a:p>
          <a:p>
            <a:r>
              <a:rPr lang="it-IT" dirty="0" err="1"/>
              <a:t>It</a:t>
            </a:r>
            <a:r>
              <a:rPr lang="it-IT" dirty="0"/>
              <a:t> takes a </a:t>
            </a:r>
            <a:r>
              <a:rPr lang="it-IT" dirty="0" err="1"/>
              <a:t>few</a:t>
            </a:r>
            <a:r>
              <a:rPr lang="it-IT" dirty="0"/>
              <a:t> seconds for the FAST model to </a:t>
            </a:r>
            <a:r>
              <a:rPr lang="it-IT" dirty="0" err="1"/>
              <a:t>adapt</a:t>
            </a:r>
            <a:r>
              <a:rPr lang="it-IT" dirty="0"/>
              <a:t> to the SLOW </a:t>
            </a:r>
            <a:r>
              <a:rPr lang="it-IT" dirty="0" err="1"/>
              <a:t>smooth</a:t>
            </a:r>
            <a:r>
              <a:rPr lang="it-IT" dirty="0"/>
              <a:t> curve</a:t>
            </a:r>
            <a:endParaRPr lang="en-GB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69E6933-52A5-30A4-7D3F-7B0220E4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274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DA6B810F4591A4CB58934AE84F23F77" ma:contentTypeVersion="1" ma:contentTypeDescription="Ein neues Dokument erstellen." ma:contentTypeScope="" ma:versionID="fafb7c855b2265bf33525f9980553f70">
  <xsd:schema xmlns:xsd="http://www.w3.org/2001/XMLSchema" xmlns:xs="http://www.w3.org/2001/XMLSchema" xmlns:p="http://schemas.microsoft.com/office/2006/metadata/properties" xmlns:ns3="1bb79e81-dc70-43c8-bec3-325dabe99c04" targetNamespace="http://schemas.microsoft.com/office/2006/metadata/properties" ma:root="true" ma:fieldsID="c1ad8fcfdd7c19050b605011e7904b27" ns3:_="">
    <xsd:import namespace="1bb79e81-dc70-43c8-bec3-325dabe99c0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79e81-dc70-43c8-bec3-325dabe99c0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175621-CD6C-497F-BE7E-1534DFF69F2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1bb79e81-dc70-43c8-bec3-325dabe99c04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082335-6F20-40E3-8A6B-9F6FEFBF4E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79e81-dc70-43c8-bec3-325dabe99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224771-1E3B-4C32-AF2C-191D6D02C4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701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Cambria Math</vt:lpstr>
      <vt:lpstr>LMRoman10-Regular</vt:lpstr>
      <vt:lpstr>Monospaced</vt:lpstr>
      <vt:lpstr>Office Theme</vt:lpstr>
      <vt:lpstr>Controller design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2 – Test of a Baseline controller </vt:lpstr>
      <vt:lpstr>2 – Test of a Baseline controller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WAQAS AHMED</dc:creator>
  <cp:lastModifiedBy>Federico De Mita</cp:lastModifiedBy>
  <cp:revision>3</cp:revision>
  <dcterms:created xsi:type="dcterms:W3CDTF">2025-10-11T09:10:44Z</dcterms:created>
  <dcterms:modified xsi:type="dcterms:W3CDTF">2025-10-11T11:12:17Z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0x0101004DA6B810F4591A4CB58934AE84F23F77</vt:lpwstr>
  </property>
</Properties>
</file>