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2"/>
  </p:notesMasterIdLst>
  <p:handoutMasterIdLst>
    <p:handoutMasterId r:id="rId23"/>
  </p:handoutMasterIdLst>
  <p:sldIdLst>
    <p:sldId id="256" r:id="rId5"/>
    <p:sldId id="260" r:id="rId6"/>
    <p:sldId id="258" r:id="rId7"/>
    <p:sldId id="261" r:id="rId8"/>
    <p:sldId id="262" r:id="rId9"/>
    <p:sldId id="263" r:id="rId10"/>
    <p:sldId id="264" r:id="rId11"/>
    <p:sldId id="265" r:id="rId12"/>
    <p:sldId id="266" r:id="rId13"/>
    <p:sldId id="267" r:id="rId14"/>
    <p:sldId id="268" r:id="rId15"/>
    <p:sldId id="269" r:id="rId16"/>
    <p:sldId id="271" r:id="rId17"/>
    <p:sldId id="272" r:id="rId18"/>
    <p:sldId id="273" r:id="rId19"/>
    <p:sldId id="274" r:id="rId20"/>
    <p:sldId id="275" r:id="rId21"/>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3A8FC1-0418-4C52-B852-F65FF6F71283}" v="32" dt="2025-10-11T09:24:03.50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notesViewPr>
    <p:cSldViewPr snapToGrid="0">
      <p:cViewPr varScale="1">
        <p:scale>
          <a:sx n="70" d="100"/>
          <a:sy n="70" d="100"/>
        </p:scale>
        <p:origin x="2971"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03B95F8-C010-1AE1-BBC7-5B486F732B0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31F32E46-4BB1-8C41-C789-B421F5B155D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A80A794-7286-4695-8684-5349FD16D5BC}" type="datetimeFigureOut">
              <a:rPr lang="en-GB" smtClean="0"/>
              <a:t>12/10/2025</a:t>
            </a:fld>
            <a:endParaRPr lang="en-GB"/>
          </a:p>
        </p:txBody>
      </p:sp>
      <p:sp>
        <p:nvSpPr>
          <p:cNvPr id="4" name="Footer Placeholder 3">
            <a:extLst>
              <a:ext uri="{FF2B5EF4-FFF2-40B4-BE49-F238E27FC236}">
                <a16:creationId xmlns:a16="http://schemas.microsoft.com/office/drawing/2014/main" id="{1783447C-5B32-0A81-21A6-FB0FB82B09A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672E9CF5-E5AD-1579-8D31-791CB9D847B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F590F4-D9B5-4F6C-B1CB-2BE3552E605D}" type="slidenum">
              <a:rPr lang="en-GB" smtClean="0"/>
              <a:t>‹#›</a:t>
            </a:fld>
            <a:endParaRPr lang="en-GB"/>
          </a:p>
        </p:txBody>
      </p:sp>
    </p:spTree>
    <p:extLst>
      <p:ext uri="{BB962C8B-B14F-4D97-AF65-F5344CB8AC3E}">
        <p14:creationId xmlns:p14="http://schemas.microsoft.com/office/powerpoint/2010/main" val="369469238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081D95-1C61-407D-9594-99A9829EEA40}" type="datetimeFigureOut">
              <a:rPr lang="en-GB" smtClean="0"/>
              <a:t>12/10/2025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CF8113-B5B8-4439-8A06-D34CE86340FE}" type="slidenum">
              <a:rPr lang="en-GB" smtClean="0"/>
              <a:t>‹#›</a:t>
            </a:fld>
            <a:endParaRPr lang="en-GB"/>
          </a:p>
        </p:txBody>
      </p:sp>
    </p:spTree>
    <p:extLst>
      <p:ext uri="{BB962C8B-B14F-4D97-AF65-F5344CB8AC3E}">
        <p14:creationId xmlns:p14="http://schemas.microsoft.com/office/powerpoint/2010/main" val="13810355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82962-E753-6BA8-FF36-8BF3C43AF0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DE"/>
          </a:p>
        </p:txBody>
      </p:sp>
      <p:sp>
        <p:nvSpPr>
          <p:cNvPr id="3" name="Subtitle 2">
            <a:extLst>
              <a:ext uri="{FF2B5EF4-FFF2-40B4-BE49-F238E27FC236}">
                <a16:creationId xmlns:a16="http://schemas.microsoft.com/office/drawing/2014/main" id="{12E31E0C-D5DC-9B6D-5477-52CB55690EC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DE"/>
          </a:p>
        </p:txBody>
      </p:sp>
      <p:sp>
        <p:nvSpPr>
          <p:cNvPr id="4" name="Date Placeholder 3">
            <a:extLst>
              <a:ext uri="{FF2B5EF4-FFF2-40B4-BE49-F238E27FC236}">
                <a16:creationId xmlns:a16="http://schemas.microsoft.com/office/drawing/2014/main" id="{68DA002F-ACFD-6479-CFA7-7E2A05F7ACEF}"/>
              </a:ext>
            </a:extLst>
          </p:cNvPr>
          <p:cNvSpPr>
            <a:spLocks noGrp="1"/>
          </p:cNvSpPr>
          <p:nvPr>
            <p:ph type="dt" sz="half" idx="10"/>
          </p:nvPr>
        </p:nvSpPr>
        <p:spPr/>
        <p:txBody>
          <a:bodyPr/>
          <a:lstStyle/>
          <a:p>
            <a:fld id="{D1774AA9-6F16-4C96-8FB3-2A9485870D87}" type="datetime1">
              <a:rPr lang="LID4096" smtClean="0"/>
              <a:t>10/12/2025</a:t>
            </a:fld>
            <a:endParaRPr lang="en-DE"/>
          </a:p>
        </p:txBody>
      </p:sp>
      <p:sp>
        <p:nvSpPr>
          <p:cNvPr id="5" name="Footer Placeholder 4">
            <a:extLst>
              <a:ext uri="{FF2B5EF4-FFF2-40B4-BE49-F238E27FC236}">
                <a16:creationId xmlns:a16="http://schemas.microsoft.com/office/drawing/2014/main" id="{B3A80B3C-F5BF-F2DE-292B-24ADB070B86E}"/>
              </a:ext>
            </a:extLst>
          </p:cNvPr>
          <p:cNvSpPr>
            <a:spLocks noGrp="1"/>
          </p:cNvSpPr>
          <p:nvPr>
            <p:ph type="ftr" sz="quarter" idx="11"/>
          </p:nvPr>
        </p:nvSpPr>
        <p:spPr/>
        <p:txBody>
          <a:bodyPr/>
          <a:lstStyle/>
          <a:p>
            <a:r>
              <a:rPr lang="en-US"/>
              <a:t>Group 3: Group 3: Federico De Mita, Waqas Ahmed, Dominic Annang, Hesham Magdy, Muthu Sivamuthu  </a:t>
            </a:r>
            <a:endParaRPr lang="en-DE"/>
          </a:p>
        </p:txBody>
      </p:sp>
      <p:sp>
        <p:nvSpPr>
          <p:cNvPr id="6" name="Slide Number Placeholder 5">
            <a:extLst>
              <a:ext uri="{FF2B5EF4-FFF2-40B4-BE49-F238E27FC236}">
                <a16:creationId xmlns:a16="http://schemas.microsoft.com/office/drawing/2014/main" id="{D2FB79F4-E8B6-D9BD-E6CB-45029DEC14CB}"/>
              </a:ext>
            </a:extLst>
          </p:cNvPr>
          <p:cNvSpPr>
            <a:spLocks noGrp="1"/>
          </p:cNvSpPr>
          <p:nvPr>
            <p:ph type="sldNum" sz="quarter" idx="12"/>
          </p:nvPr>
        </p:nvSpPr>
        <p:spPr/>
        <p:txBody>
          <a:bodyPr/>
          <a:lstStyle/>
          <a:p>
            <a:fld id="{F9C2340B-4B0F-4DED-BE4C-833C39BBA64E}" type="slidenum">
              <a:rPr lang="en-DE" smtClean="0"/>
              <a:t>‹#›</a:t>
            </a:fld>
            <a:endParaRPr lang="en-DE"/>
          </a:p>
        </p:txBody>
      </p:sp>
      <p:cxnSp>
        <p:nvCxnSpPr>
          <p:cNvPr id="7" name="Straight Connector 6">
            <a:extLst>
              <a:ext uri="{FF2B5EF4-FFF2-40B4-BE49-F238E27FC236}">
                <a16:creationId xmlns:a16="http://schemas.microsoft.com/office/drawing/2014/main" id="{0E519A29-C083-15A4-EE8E-02A5114BD08C}"/>
              </a:ext>
            </a:extLst>
          </p:cNvPr>
          <p:cNvCxnSpPr>
            <a:cxnSpLocks/>
          </p:cNvCxnSpPr>
          <p:nvPr userDrawn="1"/>
        </p:nvCxnSpPr>
        <p:spPr>
          <a:xfrm flipH="1">
            <a:off x="477795" y="6268995"/>
            <a:ext cx="11170508" cy="0"/>
          </a:xfrm>
          <a:prstGeom prst="line">
            <a:avLst/>
          </a:prstGeom>
          <a:ln w="3810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778061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60086-D65D-0F0B-817B-183F8435F990}"/>
              </a:ext>
            </a:extLst>
          </p:cNvPr>
          <p:cNvSpPr>
            <a:spLocks noGrp="1"/>
          </p:cNvSpPr>
          <p:nvPr>
            <p:ph type="title"/>
          </p:nvPr>
        </p:nvSpPr>
        <p:spPr/>
        <p:txBody>
          <a:bodyPr/>
          <a:lstStyle/>
          <a:p>
            <a:r>
              <a:rPr lang="en-US"/>
              <a:t>Click to edit Master title style</a:t>
            </a:r>
            <a:endParaRPr lang="en-DE"/>
          </a:p>
        </p:txBody>
      </p:sp>
      <p:sp>
        <p:nvSpPr>
          <p:cNvPr id="3" name="Content Placeholder 2">
            <a:extLst>
              <a:ext uri="{FF2B5EF4-FFF2-40B4-BE49-F238E27FC236}">
                <a16:creationId xmlns:a16="http://schemas.microsoft.com/office/drawing/2014/main" id="{60487DAB-EE95-2013-3FA0-62BB0D598809}"/>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DE" dirty="0"/>
          </a:p>
        </p:txBody>
      </p:sp>
      <p:sp>
        <p:nvSpPr>
          <p:cNvPr id="4" name="Date Placeholder 3">
            <a:extLst>
              <a:ext uri="{FF2B5EF4-FFF2-40B4-BE49-F238E27FC236}">
                <a16:creationId xmlns:a16="http://schemas.microsoft.com/office/drawing/2014/main" id="{48FB4F56-E463-A23C-5ADE-C7D5F1AE8D3C}"/>
              </a:ext>
            </a:extLst>
          </p:cNvPr>
          <p:cNvSpPr>
            <a:spLocks noGrp="1"/>
          </p:cNvSpPr>
          <p:nvPr>
            <p:ph type="dt" sz="half" idx="10"/>
          </p:nvPr>
        </p:nvSpPr>
        <p:spPr>
          <a:xfrm>
            <a:off x="838200" y="6356351"/>
            <a:ext cx="1099930" cy="365124"/>
          </a:xfrm>
        </p:spPr>
        <p:txBody>
          <a:bodyPr/>
          <a:lstStyle/>
          <a:p>
            <a:fld id="{8481A6F5-9A0C-4C84-9A0B-C2F10DBDF094}" type="datetime1">
              <a:rPr lang="LID4096" smtClean="0"/>
              <a:t>10/12/2025</a:t>
            </a:fld>
            <a:endParaRPr lang="en-DE"/>
          </a:p>
        </p:txBody>
      </p:sp>
      <p:sp>
        <p:nvSpPr>
          <p:cNvPr id="5" name="Footer Placeholder 4">
            <a:extLst>
              <a:ext uri="{FF2B5EF4-FFF2-40B4-BE49-F238E27FC236}">
                <a16:creationId xmlns:a16="http://schemas.microsoft.com/office/drawing/2014/main" id="{5909F11A-6B1B-85E6-8614-280743E98B0B}"/>
              </a:ext>
            </a:extLst>
          </p:cNvPr>
          <p:cNvSpPr>
            <a:spLocks noGrp="1"/>
          </p:cNvSpPr>
          <p:nvPr>
            <p:ph type="ftr" sz="quarter" idx="11"/>
          </p:nvPr>
        </p:nvSpPr>
        <p:spPr>
          <a:xfrm>
            <a:off x="2077278" y="6356352"/>
            <a:ext cx="7007087" cy="292926"/>
          </a:xfrm>
        </p:spPr>
        <p:txBody>
          <a:bodyPr/>
          <a:lstStyle/>
          <a:p>
            <a:r>
              <a:rPr lang="en-US" dirty="0"/>
              <a:t>Group 3: Group 3: Federico De Mita, Waqas Ahmed, Dominic </a:t>
            </a:r>
            <a:r>
              <a:rPr lang="en-US" dirty="0" err="1"/>
              <a:t>Annang</a:t>
            </a:r>
            <a:r>
              <a:rPr lang="en-US" dirty="0"/>
              <a:t>, Hesham Magdy, Muthu </a:t>
            </a:r>
            <a:r>
              <a:rPr lang="en-US" dirty="0" err="1"/>
              <a:t>Sivamuthu</a:t>
            </a:r>
            <a:r>
              <a:rPr lang="en-US" dirty="0"/>
              <a:t>  </a:t>
            </a:r>
            <a:endParaRPr lang="en-DE" dirty="0"/>
          </a:p>
        </p:txBody>
      </p:sp>
      <p:sp>
        <p:nvSpPr>
          <p:cNvPr id="6" name="Slide Number Placeholder 5">
            <a:extLst>
              <a:ext uri="{FF2B5EF4-FFF2-40B4-BE49-F238E27FC236}">
                <a16:creationId xmlns:a16="http://schemas.microsoft.com/office/drawing/2014/main" id="{10A2C87A-1275-9E35-2E13-6853F5E8FD0C}"/>
              </a:ext>
            </a:extLst>
          </p:cNvPr>
          <p:cNvSpPr>
            <a:spLocks noGrp="1"/>
          </p:cNvSpPr>
          <p:nvPr>
            <p:ph type="sldNum" sz="quarter" idx="12"/>
          </p:nvPr>
        </p:nvSpPr>
        <p:spPr>
          <a:xfrm>
            <a:off x="9521686" y="6356351"/>
            <a:ext cx="1832113" cy="365124"/>
          </a:xfrm>
        </p:spPr>
        <p:txBody>
          <a:bodyPr/>
          <a:lstStyle/>
          <a:p>
            <a:fld id="{F9C2340B-4B0F-4DED-BE4C-833C39BBA64E}" type="slidenum">
              <a:rPr lang="en-DE" smtClean="0"/>
              <a:t>‹#›</a:t>
            </a:fld>
            <a:endParaRPr lang="en-DE"/>
          </a:p>
        </p:txBody>
      </p:sp>
      <p:cxnSp>
        <p:nvCxnSpPr>
          <p:cNvPr id="8" name="Straight Connector 7">
            <a:extLst>
              <a:ext uri="{FF2B5EF4-FFF2-40B4-BE49-F238E27FC236}">
                <a16:creationId xmlns:a16="http://schemas.microsoft.com/office/drawing/2014/main" id="{9B28DC3C-04F7-3C74-47F3-AA21447A8E87}"/>
              </a:ext>
            </a:extLst>
          </p:cNvPr>
          <p:cNvCxnSpPr>
            <a:cxnSpLocks/>
          </p:cNvCxnSpPr>
          <p:nvPr userDrawn="1"/>
        </p:nvCxnSpPr>
        <p:spPr>
          <a:xfrm flipH="1">
            <a:off x="477795" y="6268995"/>
            <a:ext cx="11170508" cy="0"/>
          </a:xfrm>
          <a:prstGeom prst="line">
            <a:avLst/>
          </a:prstGeom>
          <a:ln w="3810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2657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417D7-B820-C34D-1059-2FFB227228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DE"/>
          </a:p>
        </p:txBody>
      </p:sp>
      <p:sp>
        <p:nvSpPr>
          <p:cNvPr id="3" name="Text Placeholder 2">
            <a:extLst>
              <a:ext uri="{FF2B5EF4-FFF2-40B4-BE49-F238E27FC236}">
                <a16:creationId xmlns:a16="http://schemas.microsoft.com/office/drawing/2014/main" id="{A5A2A81C-F182-0E37-7715-40BBC48E637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48A509-46D9-B6A4-108C-FCE794B38BF3}"/>
              </a:ext>
            </a:extLst>
          </p:cNvPr>
          <p:cNvSpPr>
            <a:spLocks noGrp="1"/>
          </p:cNvSpPr>
          <p:nvPr>
            <p:ph type="dt" sz="half" idx="10"/>
          </p:nvPr>
        </p:nvSpPr>
        <p:spPr/>
        <p:txBody>
          <a:bodyPr/>
          <a:lstStyle/>
          <a:p>
            <a:fld id="{F1D74AF5-C751-4B95-91E7-2F4C869D4BB3}" type="datetime1">
              <a:rPr lang="LID4096" smtClean="0"/>
              <a:t>10/12/2025</a:t>
            </a:fld>
            <a:endParaRPr lang="en-DE"/>
          </a:p>
        </p:txBody>
      </p:sp>
      <p:sp>
        <p:nvSpPr>
          <p:cNvPr id="5" name="Footer Placeholder 4">
            <a:extLst>
              <a:ext uri="{FF2B5EF4-FFF2-40B4-BE49-F238E27FC236}">
                <a16:creationId xmlns:a16="http://schemas.microsoft.com/office/drawing/2014/main" id="{2009EFDA-658F-0696-C9C3-4002EDF38794}"/>
              </a:ext>
            </a:extLst>
          </p:cNvPr>
          <p:cNvSpPr>
            <a:spLocks noGrp="1"/>
          </p:cNvSpPr>
          <p:nvPr>
            <p:ph type="ftr" sz="quarter" idx="11"/>
          </p:nvPr>
        </p:nvSpPr>
        <p:spPr/>
        <p:txBody>
          <a:bodyPr/>
          <a:lstStyle/>
          <a:p>
            <a:r>
              <a:rPr lang="en-US"/>
              <a:t>Group 3: Group 3: Federico De Mita, Waqas Ahmed, Dominic Annang, Hesham Magdy, Muthu Sivamuthu  </a:t>
            </a:r>
            <a:endParaRPr lang="en-DE"/>
          </a:p>
        </p:txBody>
      </p:sp>
      <p:sp>
        <p:nvSpPr>
          <p:cNvPr id="6" name="Slide Number Placeholder 5">
            <a:extLst>
              <a:ext uri="{FF2B5EF4-FFF2-40B4-BE49-F238E27FC236}">
                <a16:creationId xmlns:a16="http://schemas.microsoft.com/office/drawing/2014/main" id="{9F0ACAEA-1ED9-9DD8-655B-AA0BD39818FA}"/>
              </a:ext>
            </a:extLst>
          </p:cNvPr>
          <p:cNvSpPr>
            <a:spLocks noGrp="1"/>
          </p:cNvSpPr>
          <p:nvPr>
            <p:ph type="sldNum" sz="quarter" idx="12"/>
          </p:nvPr>
        </p:nvSpPr>
        <p:spPr/>
        <p:txBody>
          <a:bodyPr/>
          <a:lstStyle/>
          <a:p>
            <a:fld id="{F9C2340B-4B0F-4DED-BE4C-833C39BBA64E}" type="slidenum">
              <a:rPr lang="en-DE" smtClean="0"/>
              <a:t>‹#›</a:t>
            </a:fld>
            <a:endParaRPr lang="en-DE"/>
          </a:p>
        </p:txBody>
      </p:sp>
      <p:cxnSp>
        <p:nvCxnSpPr>
          <p:cNvPr id="7" name="Straight Connector 6">
            <a:extLst>
              <a:ext uri="{FF2B5EF4-FFF2-40B4-BE49-F238E27FC236}">
                <a16:creationId xmlns:a16="http://schemas.microsoft.com/office/drawing/2014/main" id="{59DC21A5-2726-8E73-341F-F50BF6180206}"/>
              </a:ext>
            </a:extLst>
          </p:cNvPr>
          <p:cNvCxnSpPr>
            <a:cxnSpLocks/>
          </p:cNvCxnSpPr>
          <p:nvPr userDrawn="1"/>
        </p:nvCxnSpPr>
        <p:spPr>
          <a:xfrm flipH="1">
            <a:off x="477795" y="6268995"/>
            <a:ext cx="11170508" cy="0"/>
          </a:xfrm>
          <a:prstGeom prst="line">
            <a:avLst/>
          </a:prstGeom>
          <a:ln w="3810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916885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F19B4-18A9-3B40-B993-A1984EBA63E1}"/>
              </a:ext>
            </a:extLst>
          </p:cNvPr>
          <p:cNvSpPr>
            <a:spLocks noGrp="1"/>
          </p:cNvSpPr>
          <p:nvPr>
            <p:ph type="title"/>
          </p:nvPr>
        </p:nvSpPr>
        <p:spPr/>
        <p:txBody>
          <a:bodyPr/>
          <a:lstStyle/>
          <a:p>
            <a:r>
              <a:rPr lang="en-US"/>
              <a:t>Click to edit Master title style</a:t>
            </a:r>
            <a:endParaRPr lang="en-DE"/>
          </a:p>
        </p:txBody>
      </p:sp>
      <p:sp>
        <p:nvSpPr>
          <p:cNvPr id="3" name="Content Placeholder 2">
            <a:extLst>
              <a:ext uri="{FF2B5EF4-FFF2-40B4-BE49-F238E27FC236}">
                <a16:creationId xmlns:a16="http://schemas.microsoft.com/office/drawing/2014/main" id="{F71F3056-F0E4-C3CE-F8E4-67030B62A7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Content Placeholder 3">
            <a:extLst>
              <a:ext uri="{FF2B5EF4-FFF2-40B4-BE49-F238E27FC236}">
                <a16:creationId xmlns:a16="http://schemas.microsoft.com/office/drawing/2014/main" id="{92459BAC-0FC6-82E7-5935-E23EC6C078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5" name="Date Placeholder 4">
            <a:extLst>
              <a:ext uri="{FF2B5EF4-FFF2-40B4-BE49-F238E27FC236}">
                <a16:creationId xmlns:a16="http://schemas.microsoft.com/office/drawing/2014/main" id="{32DCC21A-F0B1-541A-8E5F-2A392903A0E1}"/>
              </a:ext>
            </a:extLst>
          </p:cNvPr>
          <p:cNvSpPr>
            <a:spLocks noGrp="1"/>
          </p:cNvSpPr>
          <p:nvPr>
            <p:ph type="dt" sz="half" idx="10"/>
          </p:nvPr>
        </p:nvSpPr>
        <p:spPr/>
        <p:txBody>
          <a:bodyPr/>
          <a:lstStyle/>
          <a:p>
            <a:fld id="{A5FA74F2-B238-46B1-B780-C6AD47A00F92}" type="datetime1">
              <a:rPr lang="LID4096" smtClean="0"/>
              <a:t>10/12/2025</a:t>
            </a:fld>
            <a:endParaRPr lang="en-DE"/>
          </a:p>
        </p:txBody>
      </p:sp>
      <p:sp>
        <p:nvSpPr>
          <p:cNvPr id="6" name="Footer Placeholder 5">
            <a:extLst>
              <a:ext uri="{FF2B5EF4-FFF2-40B4-BE49-F238E27FC236}">
                <a16:creationId xmlns:a16="http://schemas.microsoft.com/office/drawing/2014/main" id="{9542D07F-212D-D9E1-F610-A43C9B80F41F}"/>
              </a:ext>
            </a:extLst>
          </p:cNvPr>
          <p:cNvSpPr>
            <a:spLocks noGrp="1"/>
          </p:cNvSpPr>
          <p:nvPr>
            <p:ph type="ftr" sz="quarter" idx="11"/>
          </p:nvPr>
        </p:nvSpPr>
        <p:spPr/>
        <p:txBody>
          <a:bodyPr/>
          <a:lstStyle/>
          <a:p>
            <a:r>
              <a:rPr lang="en-US"/>
              <a:t>Group 3: Group 3: Federico De Mita, Waqas Ahmed, Dominic Annang, Hesham Magdy, Muthu Sivamuthu  </a:t>
            </a:r>
            <a:endParaRPr lang="en-DE"/>
          </a:p>
        </p:txBody>
      </p:sp>
      <p:sp>
        <p:nvSpPr>
          <p:cNvPr id="7" name="Slide Number Placeholder 6">
            <a:extLst>
              <a:ext uri="{FF2B5EF4-FFF2-40B4-BE49-F238E27FC236}">
                <a16:creationId xmlns:a16="http://schemas.microsoft.com/office/drawing/2014/main" id="{E3258854-DD17-8503-B219-44DB1A6FBEB5}"/>
              </a:ext>
            </a:extLst>
          </p:cNvPr>
          <p:cNvSpPr>
            <a:spLocks noGrp="1"/>
          </p:cNvSpPr>
          <p:nvPr>
            <p:ph type="sldNum" sz="quarter" idx="12"/>
          </p:nvPr>
        </p:nvSpPr>
        <p:spPr/>
        <p:txBody>
          <a:bodyPr/>
          <a:lstStyle/>
          <a:p>
            <a:fld id="{F9C2340B-4B0F-4DED-BE4C-833C39BBA64E}" type="slidenum">
              <a:rPr lang="en-DE" smtClean="0"/>
              <a:t>‹#›</a:t>
            </a:fld>
            <a:endParaRPr lang="en-DE"/>
          </a:p>
        </p:txBody>
      </p:sp>
      <p:cxnSp>
        <p:nvCxnSpPr>
          <p:cNvPr id="8" name="Straight Connector 7">
            <a:extLst>
              <a:ext uri="{FF2B5EF4-FFF2-40B4-BE49-F238E27FC236}">
                <a16:creationId xmlns:a16="http://schemas.microsoft.com/office/drawing/2014/main" id="{ADF38869-7EAF-C96B-34B8-D15AD6BFFB0E}"/>
              </a:ext>
            </a:extLst>
          </p:cNvPr>
          <p:cNvCxnSpPr>
            <a:cxnSpLocks/>
          </p:cNvCxnSpPr>
          <p:nvPr userDrawn="1"/>
        </p:nvCxnSpPr>
        <p:spPr>
          <a:xfrm flipH="1">
            <a:off x="477795" y="6268995"/>
            <a:ext cx="11170508" cy="0"/>
          </a:xfrm>
          <a:prstGeom prst="line">
            <a:avLst/>
          </a:prstGeom>
          <a:ln w="3810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998087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429BA-7A7B-0CB6-77DB-7263CD753F6E}"/>
              </a:ext>
            </a:extLst>
          </p:cNvPr>
          <p:cNvSpPr>
            <a:spLocks noGrp="1"/>
          </p:cNvSpPr>
          <p:nvPr>
            <p:ph type="title"/>
          </p:nvPr>
        </p:nvSpPr>
        <p:spPr>
          <a:xfrm>
            <a:off x="839788" y="365125"/>
            <a:ext cx="10515600" cy="1325563"/>
          </a:xfrm>
        </p:spPr>
        <p:txBody>
          <a:bodyPr/>
          <a:lstStyle/>
          <a:p>
            <a:r>
              <a:rPr lang="en-US"/>
              <a:t>Click to edit Master title style</a:t>
            </a:r>
            <a:endParaRPr lang="en-DE"/>
          </a:p>
        </p:txBody>
      </p:sp>
      <p:sp>
        <p:nvSpPr>
          <p:cNvPr id="3" name="Text Placeholder 2">
            <a:extLst>
              <a:ext uri="{FF2B5EF4-FFF2-40B4-BE49-F238E27FC236}">
                <a16:creationId xmlns:a16="http://schemas.microsoft.com/office/drawing/2014/main" id="{4FCBC4A1-9A5C-EA7E-4379-C3F2C8AA718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C6B61E-1674-5591-393E-371800FDD00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5" name="Text Placeholder 4">
            <a:extLst>
              <a:ext uri="{FF2B5EF4-FFF2-40B4-BE49-F238E27FC236}">
                <a16:creationId xmlns:a16="http://schemas.microsoft.com/office/drawing/2014/main" id="{652C326D-B6D2-E517-2DA4-2F6B500D61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6D5BCE-E6DD-C3E0-D1A0-3C806F504A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7" name="Date Placeholder 6">
            <a:extLst>
              <a:ext uri="{FF2B5EF4-FFF2-40B4-BE49-F238E27FC236}">
                <a16:creationId xmlns:a16="http://schemas.microsoft.com/office/drawing/2014/main" id="{D772D387-6992-07F7-F8F1-C83AD976DC00}"/>
              </a:ext>
            </a:extLst>
          </p:cNvPr>
          <p:cNvSpPr>
            <a:spLocks noGrp="1"/>
          </p:cNvSpPr>
          <p:nvPr>
            <p:ph type="dt" sz="half" idx="10"/>
          </p:nvPr>
        </p:nvSpPr>
        <p:spPr/>
        <p:txBody>
          <a:bodyPr/>
          <a:lstStyle/>
          <a:p>
            <a:fld id="{8048E0A7-24C7-4E7E-AA54-0842987EEFAB}" type="datetime1">
              <a:rPr lang="LID4096" smtClean="0"/>
              <a:t>10/12/2025</a:t>
            </a:fld>
            <a:endParaRPr lang="en-DE"/>
          </a:p>
        </p:txBody>
      </p:sp>
      <p:sp>
        <p:nvSpPr>
          <p:cNvPr id="8" name="Footer Placeholder 7">
            <a:extLst>
              <a:ext uri="{FF2B5EF4-FFF2-40B4-BE49-F238E27FC236}">
                <a16:creationId xmlns:a16="http://schemas.microsoft.com/office/drawing/2014/main" id="{0E436F7C-C549-ADCA-617D-9CAC082D52B3}"/>
              </a:ext>
            </a:extLst>
          </p:cNvPr>
          <p:cNvSpPr>
            <a:spLocks noGrp="1"/>
          </p:cNvSpPr>
          <p:nvPr>
            <p:ph type="ftr" sz="quarter" idx="11"/>
          </p:nvPr>
        </p:nvSpPr>
        <p:spPr/>
        <p:txBody>
          <a:bodyPr/>
          <a:lstStyle/>
          <a:p>
            <a:r>
              <a:rPr lang="en-US"/>
              <a:t>Group 3: Group 3: Federico De Mita, Waqas Ahmed, Dominic Annang, Hesham Magdy, Muthu Sivamuthu  </a:t>
            </a:r>
            <a:endParaRPr lang="en-DE"/>
          </a:p>
        </p:txBody>
      </p:sp>
      <p:sp>
        <p:nvSpPr>
          <p:cNvPr id="9" name="Slide Number Placeholder 8">
            <a:extLst>
              <a:ext uri="{FF2B5EF4-FFF2-40B4-BE49-F238E27FC236}">
                <a16:creationId xmlns:a16="http://schemas.microsoft.com/office/drawing/2014/main" id="{AE22AB32-953F-2681-98BD-9546F422AB89}"/>
              </a:ext>
            </a:extLst>
          </p:cNvPr>
          <p:cNvSpPr>
            <a:spLocks noGrp="1"/>
          </p:cNvSpPr>
          <p:nvPr>
            <p:ph type="sldNum" sz="quarter" idx="12"/>
          </p:nvPr>
        </p:nvSpPr>
        <p:spPr/>
        <p:txBody>
          <a:bodyPr/>
          <a:lstStyle/>
          <a:p>
            <a:fld id="{F9C2340B-4B0F-4DED-BE4C-833C39BBA64E}" type="slidenum">
              <a:rPr lang="en-DE" smtClean="0"/>
              <a:t>‹#›</a:t>
            </a:fld>
            <a:endParaRPr lang="en-DE"/>
          </a:p>
        </p:txBody>
      </p:sp>
      <p:cxnSp>
        <p:nvCxnSpPr>
          <p:cNvPr id="10" name="Straight Connector 9">
            <a:extLst>
              <a:ext uri="{FF2B5EF4-FFF2-40B4-BE49-F238E27FC236}">
                <a16:creationId xmlns:a16="http://schemas.microsoft.com/office/drawing/2014/main" id="{166D92BC-B15D-D0EB-928A-0F89AA8A9454}"/>
              </a:ext>
            </a:extLst>
          </p:cNvPr>
          <p:cNvCxnSpPr>
            <a:cxnSpLocks/>
          </p:cNvCxnSpPr>
          <p:nvPr userDrawn="1"/>
        </p:nvCxnSpPr>
        <p:spPr>
          <a:xfrm flipH="1">
            <a:off x="477795" y="6268995"/>
            <a:ext cx="11170508" cy="0"/>
          </a:xfrm>
          <a:prstGeom prst="line">
            <a:avLst/>
          </a:prstGeom>
          <a:ln w="3810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3081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73FC3A-5575-AB7C-7812-2982F496CE05}"/>
              </a:ext>
            </a:extLst>
          </p:cNvPr>
          <p:cNvSpPr>
            <a:spLocks noGrp="1"/>
          </p:cNvSpPr>
          <p:nvPr>
            <p:ph type="title"/>
          </p:nvPr>
        </p:nvSpPr>
        <p:spPr/>
        <p:txBody>
          <a:bodyPr/>
          <a:lstStyle/>
          <a:p>
            <a:r>
              <a:rPr lang="en-US"/>
              <a:t>Click to edit Master title style</a:t>
            </a:r>
            <a:endParaRPr lang="en-DE"/>
          </a:p>
        </p:txBody>
      </p:sp>
      <p:sp>
        <p:nvSpPr>
          <p:cNvPr id="3" name="Date Placeholder 2">
            <a:extLst>
              <a:ext uri="{FF2B5EF4-FFF2-40B4-BE49-F238E27FC236}">
                <a16:creationId xmlns:a16="http://schemas.microsoft.com/office/drawing/2014/main" id="{FA9F16E7-ECB9-8504-0DD8-3DC22F0D313F}"/>
              </a:ext>
            </a:extLst>
          </p:cNvPr>
          <p:cNvSpPr>
            <a:spLocks noGrp="1"/>
          </p:cNvSpPr>
          <p:nvPr>
            <p:ph type="dt" sz="half" idx="10"/>
          </p:nvPr>
        </p:nvSpPr>
        <p:spPr/>
        <p:txBody>
          <a:bodyPr/>
          <a:lstStyle/>
          <a:p>
            <a:fld id="{61748C1B-8793-4494-9AC4-F6ED6F231DDA}" type="datetime1">
              <a:rPr lang="LID4096" smtClean="0"/>
              <a:t>10/12/2025</a:t>
            </a:fld>
            <a:endParaRPr lang="en-DE"/>
          </a:p>
        </p:txBody>
      </p:sp>
      <p:sp>
        <p:nvSpPr>
          <p:cNvPr id="4" name="Footer Placeholder 3">
            <a:extLst>
              <a:ext uri="{FF2B5EF4-FFF2-40B4-BE49-F238E27FC236}">
                <a16:creationId xmlns:a16="http://schemas.microsoft.com/office/drawing/2014/main" id="{A752B695-80FA-EE67-05E3-2DB98C56B5CD}"/>
              </a:ext>
            </a:extLst>
          </p:cNvPr>
          <p:cNvSpPr>
            <a:spLocks noGrp="1"/>
          </p:cNvSpPr>
          <p:nvPr>
            <p:ph type="ftr" sz="quarter" idx="11"/>
          </p:nvPr>
        </p:nvSpPr>
        <p:spPr/>
        <p:txBody>
          <a:bodyPr/>
          <a:lstStyle/>
          <a:p>
            <a:r>
              <a:rPr lang="en-US"/>
              <a:t>Group 3: Group 3: Federico De Mita, Waqas Ahmed, Dominic Annang, Hesham Magdy, Muthu Sivamuthu  </a:t>
            </a:r>
            <a:endParaRPr lang="en-DE"/>
          </a:p>
        </p:txBody>
      </p:sp>
      <p:sp>
        <p:nvSpPr>
          <p:cNvPr id="5" name="Slide Number Placeholder 4">
            <a:extLst>
              <a:ext uri="{FF2B5EF4-FFF2-40B4-BE49-F238E27FC236}">
                <a16:creationId xmlns:a16="http://schemas.microsoft.com/office/drawing/2014/main" id="{B4EC6A54-32CA-FE77-D189-BD6E383A9B7A}"/>
              </a:ext>
            </a:extLst>
          </p:cNvPr>
          <p:cNvSpPr>
            <a:spLocks noGrp="1"/>
          </p:cNvSpPr>
          <p:nvPr>
            <p:ph type="sldNum" sz="quarter" idx="12"/>
          </p:nvPr>
        </p:nvSpPr>
        <p:spPr/>
        <p:txBody>
          <a:bodyPr/>
          <a:lstStyle/>
          <a:p>
            <a:fld id="{F9C2340B-4B0F-4DED-BE4C-833C39BBA64E}" type="slidenum">
              <a:rPr lang="en-DE" smtClean="0"/>
              <a:t>‹#›</a:t>
            </a:fld>
            <a:endParaRPr lang="en-DE"/>
          </a:p>
        </p:txBody>
      </p:sp>
      <p:cxnSp>
        <p:nvCxnSpPr>
          <p:cNvPr id="6" name="Straight Connector 5">
            <a:extLst>
              <a:ext uri="{FF2B5EF4-FFF2-40B4-BE49-F238E27FC236}">
                <a16:creationId xmlns:a16="http://schemas.microsoft.com/office/drawing/2014/main" id="{C115E13D-0694-5CFC-8778-9B98275D22EB}"/>
              </a:ext>
            </a:extLst>
          </p:cNvPr>
          <p:cNvCxnSpPr>
            <a:cxnSpLocks/>
          </p:cNvCxnSpPr>
          <p:nvPr userDrawn="1"/>
        </p:nvCxnSpPr>
        <p:spPr>
          <a:xfrm flipH="1">
            <a:off x="477795" y="6268995"/>
            <a:ext cx="11170508" cy="0"/>
          </a:xfrm>
          <a:prstGeom prst="line">
            <a:avLst/>
          </a:prstGeom>
          <a:ln w="3810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599940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B08DF03-22EF-7CA6-0CBE-DF746EA28C51}"/>
              </a:ext>
            </a:extLst>
          </p:cNvPr>
          <p:cNvSpPr>
            <a:spLocks noGrp="1"/>
          </p:cNvSpPr>
          <p:nvPr>
            <p:ph type="dt" sz="half" idx="10"/>
          </p:nvPr>
        </p:nvSpPr>
        <p:spPr/>
        <p:txBody>
          <a:bodyPr/>
          <a:lstStyle/>
          <a:p>
            <a:fld id="{4ACB99DF-65D3-4C2E-A39A-A1B04D548F53}" type="datetime1">
              <a:rPr lang="LID4096" smtClean="0"/>
              <a:t>10/12/2025</a:t>
            </a:fld>
            <a:endParaRPr lang="en-DE"/>
          </a:p>
        </p:txBody>
      </p:sp>
      <p:sp>
        <p:nvSpPr>
          <p:cNvPr id="3" name="Footer Placeholder 2">
            <a:extLst>
              <a:ext uri="{FF2B5EF4-FFF2-40B4-BE49-F238E27FC236}">
                <a16:creationId xmlns:a16="http://schemas.microsoft.com/office/drawing/2014/main" id="{092C5596-7B20-267C-89F1-793C5720F466}"/>
              </a:ext>
            </a:extLst>
          </p:cNvPr>
          <p:cNvSpPr>
            <a:spLocks noGrp="1"/>
          </p:cNvSpPr>
          <p:nvPr>
            <p:ph type="ftr" sz="quarter" idx="11"/>
          </p:nvPr>
        </p:nvSpPr>
        <p:spPr/>
        <p:txBody>
          <a:bodyPr/>
          <a:lstStyle/>
          <a:p>
            <a:r>
              <a:rPr lang="en-US"/>
              <a:t>Group 3: Group 3: Federico De Mita, Waqas Ahmed, Dominic Annang, Hesham Magdy, Muthu Sivamuthu  </a:t>
            </a:r>
            <a:endParaRPr lang="en-DE"/>
          </a:p>
        </p:txBody>
      </p:sp>
      <p:sp>
        <p:nvSpPr>
          <p:cNvPr id="4" name="Slide Number Placeholder 3">
            <a:extLst>
              <a:ext uri="{FF2B5EF4-FFF2-40B4-BE49-F238E27FC236}">
                <a16:creationId xmlns:a16="http://schemas.microsoft.com/office/drawing/2014/main" id="{77C0ED65-3899-CB71-A18E-E9A6C324A1EC}"/>
              </a:ext>
            </a:extLst>
          </p:cNvPr>
          <p:cNvSpPr>
            <a:spLocks noGrp="1"/>
          </p:cNvSpPr>
          <p:nvPr>
            <p:ph type="sldNum" sz="quarter" idx="12"/>
          </p:nvPr>
        </p:nvSpPr>
        <p:spPr/>
        <p:txBody>
          <a:bodyPr/>
          <a:lstStyle/>
          <a:p>
            <a:fld id="{F9C2340B-4B0F-4DED-BE4C-833C39BBA64E}" type="slidenum">
              <a:rPr lang="en-DE" smtClean="0"/>
              <a:t>‹#›</a:t>
            </a:fld>
            <a:endParaRPr lang="en-DE"/>
          </a:p>
        </p:txBody>
      </p:sp>
      <p:cxnSp>
        <p:nvCxnSpPr>
          <p:cNvPr id="5" name="Straight Connector 4">
            <a:extLst>
              <a:ext uri="{FF2B5EF4-FFF2-40B4-BE49-F238E27FC236}">
                <a16:creationId xmlns:a16="http://schemas.microsoft.com/office/drawing/2014/main" id="{4BC07FE5-AFB6-D790-0FCF-3841CAF4E100}"/>
              </a:ext>
            </a:extLst>
          </p:cNvPr>
          <p:cNvCxnSpPr>
            <a:cxnSpLocks/>
          </p:cNvCxnSpPr>
          <p:nvPr userDrawn="1"/>
        </p:nvCxnSpPr>
        <p:spPr>
          <a:xfrm flipH="1">
            <a:off x="477795" y="6268995"/>
            <a:ext cx="11170508" cy="0"/>
          </a:xfrm>
          <a:prstGeom prst="line">
            <a:avLst/>
          </a:prstGeom>
          <a:ln w="38100">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35696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19907-E5BF-6D30-9429-E2BFBC79D0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E"/>
          </a:p>
        </p:txBody>
      </p:sp>
      <p:sp>
        <p:nvSpPr>
          <p:cNvPr id="3" name="Content Placeholder 2">
            <a:extLst>
              <a:ext uri="{FF2B5EF4-FFF2-40B4-BE49-F238E27FC236}">
                <a16:creationId xmlns:a16="http://schemas.microsoft.com/office/drawing/2014/main" id="{979C8563-18D2-3688-688A-ADB0183BA2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Text Placeholder 3">
            <a:extLst>
              <a:ext uri="{FF2B5EF4-FFF2-40B4-BE49-F238E27FC236}">
                <a16:creationId xmlns:a16="http://schemas.microsoft.com/office/drawing/2014/main" id="{F3C4DA0B-B347-4B25-D4B3-8C665C1E18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7A42A1-DB06-4A9F-1A3E-1D4D065522A6}"/>
              </a:ext>
            </a:extLst>
          </p:cNvPr>
          <p:cNvSpPr>
            <a:spLocks noGrp="1"/>
          </p:cNvSpPr>
          <p:nvPr>
            <p:ph type="dt" sz="half" idx="10"/>
          </p:nvPr>
        </p:nvSpPr>
        <p:spPr/>
        <p:txBody>
          <a:bodyPr/>
          <a:lstStyle/>
          <a:p>
            <a:fld id="{4F6A9B61-934F-4DB2-8C57-80CEC465FAFA}" type="datetime1">
              <a:rPr lang="LID4096" smtClean="0"/>
              <a:t>10/12/2025</a:t>
            </a:fld>
            <a:endParaRPr lang="en-DE"/>
          </a:p>
        </p:txBody>
      </p:sp>
      <p:sp>
        <p:nvSpPr>
          <p:cNvPr id="6" name="Footer Placeholder 5">
            <a:extLst>
              <a:ext uri="{FF2B5EF4-FFF2-40B4-BE49-F238E27FC236}">
                <a16:creationId xmlns:a16="http://schemas.microsoft.com/office/drawing/2014/main" id="{A61C19BA-B4D0-0C87-2482-C947912999D2}"/>
              </a:ext>
            </a:extLst>
          </p:cNvPr>
          <p:cNvSpPr>
            <a:spLocks noGrp="1"/>
          </p:cNvSpPr>
          <p:nvPr>
            <p:ph type="ftr" sz="quarter" idx="11"/>
          </p:nvPr>
        </p:nvSpPr>
        <p:spPr/>
        <p:txBody>
          <a:bodyPr/>
          <a:lstStyle/>
          <a:p>
            <a:r>
              <a:rPr lang="en-US"/>
              <a:t>Group 3: Group 3: Federico De Mita, Waqas Ahmed, Dominic Annang, Hesham Magdy, Muthu Sivamuthu  </a:t>
            </a:r>
            <a:endParaRPr lang="en-DE"/>
          </a:p>
        </p:txBody>
      </p:sp>
      <p:sp>
        <p:nvSpPr>
          <p:cNvPr id="7" name="Slide Number Placeholder 6">
            <a:extLst>
              <a:ext uri="{FF2B5EF4-FFF2-40B4-BE49-F238E27FC236}">
                <a16:creationId xmlns:a16="http://schemas.microsoft.com/office/drawing/2014/main" id="{27D50F02-AD03-002C-6B19-0B9030478CF3}"/>
              </a:ext>
            </a:extLst>
          </p:cNvPr>
          <p:cNvSpPr>
            <a:spLocks noGrp="1"/>
          </p:cNvSpPr>
          <p:nvPr>
            <p:ph type="sldNum" sz="quarter" idx="12"/>
          </p:nvPr>
        </p:nvSpPr>
        <p:spPr/>
        <p:txBody>
          <a:bodyPr/>
          <a:lstStyle/>
          <a:p>
            <a:fld id="{F9C2340B-4B0F-4DED-BE4C-833C39BBA64E}" type="slidenum">
              <a:rPr lang="en-DE" smtClean="0"/>
              <a:t>‹#›</a:t>
            </a:fld>
            <a:endParaRPr lang="en-DE"/>
          </a:p>
        </p:txBody>
      </p:sp>
    </p:spTree>
    <p:extLst>
      <p:ext uri="{BB962C8B-B14F-4D97-AF65-F5344CB8AC3E}">
        <p14:creationId xmlns:p14="http://schemas.microsoft.com/office/powerpoint/2010/main" val="38350118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F9A77-A8D6-FEB6-E9FA-8A364AB65A0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E"/>
          </a:p>
        </p:txBody>
      </p:sp>
      <p:sp>
        <p:nvSpPr>
          <p:cNvPr id="3" name="Picture Placeholder 2">
            <a:extLst>
              <a:ext uri="{FF2B5EF4-FFF2-40B4-BE49-F238E27FC236}">
                <a16:creationId xmlns:a16="http://schemas.microsoft.com/office/drawing/2014/main" id="{58CCB1BC-016E-AFB5-EEBB-FA6BA810EE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E"/>
          </a:p>
        </p:txBody>
      </p:sp>
      <p:sp>
        <p:nvSpPr>
          <p:cNvPr id="4" name="Text Placeholder 3">
            <a:extLst>
              <a:ext uri="{FF2B5EF4-FFF2-40B4-BE49-F238E27FC236}">
                <a16:creationId xmlns:a16="http://schemas.microsoft.com/office/drawing/2014/main" id="{08796D80-7379-C27A-ACD8-D82810C5E7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006174-7916-51F7-62AD-12C5D2DE822C}"/>
              </a:ext>
            </a:extLst>
          </p:cNvPr>
          <p:cNvSpPr>
            <a:spLocks noGrp="1"/>
          </p:cNvSpPr>
          <p:nvPr>
            <p:ph type="dt" sz="half" idx="10"/>
          </p:nvPr>
        </p:nvSpPr>
        <p:spPr/>
        <p:txBody>
          <a:bodyPr/>
          <a:lstStyle/>
          <a:p>
            <a:fld id="{936C657A-07CB-4E14-BEE1-0E9D300A43A9}" type="datetime1">
              <a:rPr lang="LID4096" smtClean="0"/>
              <a:t>10/12/2025</a:t>
            </a:fld>
            <a:endParaRPr lang="en-DE"/>
          </a:p>
        </p:txBody>
      </p:sp>
      <p:sp>
        <p:nvSpPr>
          <p:cNvPr id="6" name="Footer Placeholder 5">
            <a:extLst>
              <a:ext uri="{FF2B5EF4-FFF2-40B4-BE49-F238E27FC236}">
                <a16:creationId xmlns:a16="http://schemas.microsoft.com/office/drawing/2014/main" id="{93E4122F-6B51-77A2-CBD1-F495AB053520}"/>
              </a:ext>
            </a:extLst>
          </p:cNvPr>
          <p:cNvSpPr>
            <a:spLocks noGrp="1"/>
          </p:cNvSpPr>
          <p:nvPr>
            <p:ph type="ftr" sz="quarter" idx="11"/>
          </p:nvPr>
        </p:nvSpPr>
        <p:spPr/>
        <p:txBody>
          <a:bodyPr/>
          <a:lstStyle/>
          <a:p>
            <a:r>
              <a:rPr lang="en-US"/>
              <a:t>Group 3: Group 3: Federico De Mita, Waqas Ahmed, Dominic Annang, Hesham Magdy, Muthu Sivamuthu  </a:t>
            </a:r>
            <a:endParaRPr lang="en-DE"/>
          </a:p>
        </p:txBody>
      </p:sp>
      <p:sp>
        <p:nvSpPr>
          <p:cNvPr id="7" name="Slide Number Placeholder 6">
            <a:extLst>
              <a:ext uri="{FF2B5EF4-FFF2-40B4-BE49-F238E27FC236}">
                <a16:creationId xmlns:a16="http://schemas.microsoft.com/office/drawing/2014/main" id="{A83CCE9B-74A6-E5AD-2940-F4E1EAB34BDA}"/>
              </a:ext>
            </a:extLst>
          </p:cNvPr>
          <p:cNvSpPr>
            <a:spLocks noGrp="1"/>
          </p:cNvSpPr>
          <p:nvPr>
            <p:ph type="sldNum" sz="quarter" idx="12"/>
          </p:nvPr>
        </p:nvSpPr>
        <p:spPr/>
        <p:txBody>
          <a:bodyPr/>
          <a:lstStyle/>
          <a:p>
            <a:fld id="{F9C2340B-4B0F-4DED-BE4C-833C39BBA64E}" type="slidenum">
              <a:rPr lang="en-DE" smtClean="0"/>
              <a:t>‹#›</a:t>
            </a:fld>
            <a:endParaRPr lang="en-DE"/>
          </a:p>
        </p:txBody>
      </p:sp>
    </p:spTree>
    <p:extLst>
      <p:ext uri="{BB962C8B-B14F-4D97-AF65-F5344CB8AC3E}">
        <p14:creationId xmlns:p14="http://schemas.microsoft.com/office/powerpoint/2010/main" val="2452745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05F1A-D5C7-59CE-65CE-1AE1EEEE6592}"/>
              </a:ext>
            </a:extLst>
          </p:cNvPr>
          <p:cNvSpPr>
            <a:spLocks noGrp="1"/>
          </p:cNvSpPr>
          <p:nvPr>
            <p:ph type="title"/>
          </p:nvPr>
        </p:nvSpPr>
        <p:spPr/>
        <p:txBody>
          <a:bodyPr/>
          <a:lstStyle/>
          <a:p>
            <a:r>
              <a:rPr lang="en-US"/>
              <a:t>Click to edit Master title style</a:t>
            </a:r>
            <a:endParaRPr lang="en-DE"/>
          </a:p>
        </p:txBody>
      </p:sp>
      <p:sp>
        <p:nvSpPr>
          <p:cNvPr id="3" name="Vertical Text Placeholder 2">
            <a:extLst>
              <a:ext uri="{FF2B5EF4-FFF2-40B4-BE49-F238E27FC236}">
                <a16:creationId xmlns:a16="http://schemas.microsoft.com/office/drawing/2014/main" id="{D034E51D-3B33-5B53-17F7-EB1B750CBB8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9CC24709-27B4-3D97-2B80-B3D8F47A266D}"/>
              </a:ext>
            </a:extLst>
          </p:cNvPr>
          <p:cNvSpPr>
            <a:spLocks noGrp="1"/>
          </p:cNvSpPr>
          <p:nvPr>
            <p:ph type="dt" sz="half" idx="10"/>
          </p:nvPr>
        </p:nvSpPr>
        <p:spPr/>
        <p:txBody>
          <a:bodyPr/>
          <a:lstStyle/>
          <a:p>
            <a:fld id="{922F6077-2302-4AF0-80E8-9C8C52B69F8C}" type="datetime1">
              <a:rPr lang="LID4096" smtClean="0"/>
              <a:t>10/12/2025</a:t>
            </a:fld>
            <a:endParaRPr lang="en-DE"/>
          </a:p>
        </p:txBody>
      </p:sp>
      <p:sp>
        <p:nvSpPr>
          <p:cNvPr id="5" name="Footer Placeholder 4">
            <a:extLst>
              <a:ext uri="{FF2B5EF4-FFF2-40B4-BE49-F238E27FC236}">
                <a16:creationId xmlns:a16="http://schemas.microsoft.com/office/drawing/2014/main" id="{7C6DB856-BD13-300D-0EB9-008FFDA2561E}"/>
              </a:ext>
            </a:extLst>
          </p:cNvPr>
          <p:cNvSpPr>
            <a:spLocks noGrp="1"/>
          </p:cNvSpPr>
          <p:nvPr>
            <p:ph type="ftr" sz="quarter" idx="11"/>
          </p:nvPr>
        </p:nvSpPr>
        <p:spPr/>
        <p:txBody>
          <a:bodyPr/>
          <a:lstStyle/>
          <a:p>
            <a:r>
              <a:rPr lang="en-US"/>
              <a:t>Group 3: Group 3: Federico De Mita, Waqas Ahmed, Dominic Annang, Hesham Magdy, Muthu Sivamuthu  </a:t>
            </a:r>
            <a:endParaRPr lang="en-DE"/>
          </a:p>
        </p:txBody>
      </p:sp>
      <p:sp>
        <p:nvSpPr>
          <p:cNvPr id="6" name="Slide Number Placeholder 5">
            <a:extLst>
              <a:ext uri="{FF2B5EF4-FFF2-40B4-BE49-F238E27FC236}">
                <a16:creationId xmlns:a16="http://schemas.microsoft.com/office/drawing/2014/main" id="{5F84A13F-5665-F53F-DBB8-7F45D6806D31}"/>
              </a:ext>
            </a:extLst>
          </p:cNvPr>
          <p:cNvSpPr>
            <a:spLocks noGrp="1"/>
          </p:cNvSpPr>
          <p:nvPr>
            <p:ph type="sldNum" sz="quarter" idx="12"/>
          </p:nvPr>
        </p:nvSpPr>
        <p:spPr/>
        <p:txBody>
          <a:bodyPr/>
          <a:lstStyle/>
          <a:p>
            <a:fld id="{F9C2340B-4B0F-4DED-BE4C-833C39BBA64E}" type="slidenum">
              <a:rPr lang="en-DE" smtClean="0"/>
              <a:t>‹#›</a:t>
            </a:fld>
            <a:endParaRPr lang="en-DE"/>
          </a:p>
        </p:txBody>
      </p:sp>
    </p:spTree>
    <p:extLst>
      <p:ext uri="{BB962C8B-B14F-4D97-AF65-F5344CB8AC3E}">
        <p14:creationId xmlns:p14="http://schemas.microsoft.com/office/powerpoint/2010/main" val="3700589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32B4948-E984-009A-43F1-937A546DE62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DE"/>
          </a:p>
        </p:txBody>
      </p:sp>
      <p:sp>
        <p:nvSpPr>
          <p:cNvPr id="3" name="Vertical Text Placeholder 2">
            <a:extLst>
              <a:ext uri="{FF2B5EF4-FFF2-40B4-BE49-F238E27FC236}">
                <a16:creationId xmlns:a16="http://schemas.microsoft.com/office/drawing/2014/main" id="{4445881A-DA8B-0888-3E03-1530EF7BB8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050EF83A-8A48-2578-ADDF-EE7CD9D51E61}"/>
              </a:ext>
            </a:extLst>
          </p:cNvPr>
          <p:cNvSpPr>
            <a:spLocks noGrp="1"/>
          </p:cNvSpPr>
          <p:nvPr>
            <p:ph type="dt" sz="half" idx="10"/>
          </p:nvPr>
        </p:nvSpPr>
        <p:spPr/>
        <p:txBody>
          <a:bodyPr/>
          <a:lstStyle/>
          <a:p>
            <a:fld id="{00FD0E3C-DE2C-4B16-97BC-E90F6CF1081C}" type="datetime1">
              <a:rPr lang="LID4096" smtClean="0"/>
              <a:t>10/12/2025</a:t>
            </a:fld>
            <a:endParaRPr lang="en-DE"/>
          </a:p>
        </p:txBody>
      </p:sp>
      <p:sp>
        <p:nvSpPr>
          <p:cNvPr id="5" name="Footer Placeholder 4">
            <a:extLst>
              <a:ext uri="{FF2B5EF4-FFF2-40B4-BE49-F238E27FC236}">
                <a16:creationId xmlns:a16="http://schemas.microsoft.com/office/drawing/2014/main" id="{2B98181A-1310-84C7-05C3-30F1B285DFEA}"/>
              </a:ext>
            </a:extLst>
          </p:cNvPr>
          <p:cNvSpPr>
            <a:spLocks noGrp="1"/>
          </p:cNvSpPr>
          <p:nvPr>
            <p:ph type="ftr" sz="quarter" idx="11"/>
          </p:nvPr>
        </p:nvSpPr>
        <p:spPr/>
        <p:txBody>
          <a:bodyPr/>
          <a:lstStyle/>
          <a:p>
            <a:r>
              <a:rPr lang="en-US"/>
              <a:t>Group 3: Group 3: Federico De Mita, Waqas Ahmed, Dominic Annang, Hesham Magdy, Muthu Sivamuthu  </a:t>
            </a:r>
            <a:endParaRPr lang="en-DE"/>
          </a:p>
        </p:txBody>
      </p:sp>
      <p:sp>
        <p:nvSpPr>
          <p:cNvPr id="6" name="Slide Number Placeholder 5">
            <a:extLst>
              <a:ext uri="{FF2B5EF4-FFF2-40B4-BE49-F238E27FC236}">
                <a16:creationId xmlns:a16="http://schemas.microsoft.com/office/drawing/2014/main" id="{DB907DBA-3E57-0507-983F-57A564ACA399}"/>
              </a:ext>
            </a:extLst>
          </p:cNvPr>
          <p:cNvSpPr>
            <a:spLocks noGrp="1"/>
          </p:cNvSpPr>
          <p:nvPr>
            <p:ph type="sldNum" sz="quarter" idx="12"/>
          </p:nvPr>
        </p:nvSpPr>
        <p:spPr/>
        <p:txBody>
          <a:bodyPr/>
          <a:lstStyle/>
          <a:p>
            <a:fld id="{F9C2340B-4B0F-4DED-BE4C-833C39BBA64E}" type="slidenum">
              <a:rPr lang="en-DE" smtClean="0"/>
              <a:t>‹#›</a:t>
            </a:fld>
            <a:endParaRPr lang="en-DE"/>
          </a:p>
        </p:txBody>
      </p:sp>
    </p:spTree>
    <p:extLst>
      <p:ext uri="{BB962C8B-B14F-4D97-AF65-F5344CB8AC3E}">
        <p14:creationId xmlns:p14="http://schemas.microsoft.com/office/powerpoint/2010/main" val="18716347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5CC68E-F674-9F4A-F717-4ED71DA6C7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Exercise Number 1</a:t>
            </a:r>
            <a:endParaRPr lang="en-DE" dirty="0"/>
          </a:p>
        </p:txBody>
      </p:sp>
      <p:sp>
        <p:nvSpPr>
          <p:cNvPr id="3" name="Text Placeholder 2">
            <a:extLst>
              <a:ext uri="{FF2B5EF4-FFF2-40B4-BE49-F238E27FC236}">
                <a16:creationId xmlns:a16="http://schemas.microsoft.com/office/drawing/2014/main" id="{92EFD8DE-DE09-9E05-48B7-7121EAFE53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endParaRPr lang="en-DE" dirty="0"/>
          </a:p>
        </p:txBody>
      </p:sp>
      <p:sp>
        <p:nvSpPr>
          <p:cNvPr id="4" name="Date Placeholder 3">
            <a:extLst>
              <a:ext uri="{FF2B5EF4-FFF2-40B4-BE49-F238E27FC236}">
                <a16:creationId xmlns:a16="http://schemas.microsoft.com/office/drawing/2014/main" id="{931935CC-DACC-A3FB-79A0-67E153F097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0E7F872-672D-42DC-8D27-89920881E65A}" type="datetime1">
              <a:rPr lang="LID4096" smtClean="0"/>
              <a:t>10/12/2025</a:t>
            </a:fld>
            <a:endParaRPr lang="en-DE"/>
          </a:p>
        </p:txBody>
      </p:sp>
      <p:sp>
        <p:nvSpPr>
          <p:cNvPr id="5" name="Footer Placeholder 4">
            <a:extLst>
              <a:ext uri="{FF2B5EF4-FFF2-40B4-BE49-F238E27FC236}">
                <a16:creationId xmlns:a16="http://schemas.microsoft.com/office/drawing/2014/main" id="{7A8F8E77-4498-E647-0A2D-3DD475B816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Group 3: Group 3: Federico De Mita, Waqas Ahmed, Dominic Annang, Hesham Magdy, Muthu Sivamuthu  </a:t>
            </a:r>
            <a:endParaRPr lang="en-DE" dirty="0"/>
          </a:p>
        </p:txBody>
      </p:sp>
      <p:sp>
        <p:nvSpPr>
          <p:cNvPr id="6" name="Slide Number Placeholder 5">
            <a:extLst>
              <a:ext uri="{FF2B5EF4-FFF2-40B4-BE49-F238E27FC236}">
                <a16:creationId xmlns:a16="http://schemas.microsoft.com/office/drawing/2014/main" id="{ABCD7A62-8064-1B2D-3CA9-BAF520E900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endParaRPr lang="en-DE" dirty="0"/>
          </a:p>
        </p:txBody>
      </p:sp>
      <p:pic>
        <p:nvPicPr>
          <p:cNvPr id="8" name="Picture 7" descr="A colorful squares with text&#10;&#10;AI-generated content may be incorrect.">
            <a:extLst>
              <a:ext uri="{FF2B5EF4-FFF2-40B4-BE49-F238E27FC236}">
                <a16:creationId xmlns:a16="http://schemas.microsoft.com/office/drawing/2014/main" id="{9489025A-229B-3639-223C-C10F2CD40411}"/>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453259" y="365125"/>
            <a:ext cx="1698445" cy="1127826"/>
          </a:xfrm>
          <a:prstGeom prst="rect">
            <a:avLst/>
          </a:prstGeom>
        </p:spPr>
      </p:pic>
    </p:spTree>
    <p:extLst>
      <p:ext uri="{BB962C8B-B14F-4D97-AF65-F5344CB8AC3E}">
        <p14:creationId xmlns:p14="http://schemas.microsoft.com/office/powerpoint/2010/main" val="8194198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90EAC-756A-60B6-38CA-FEA221960A0A}"/>
              </a:ext>
            </a:extLst>
          </p:cNvPr>
          <p:cNvSpPr>
            <a:spLocks noGrp="1"/>
          </p:cNvSpPr>
          <p:nvPr>
            <p:ph type="ctrTitle"/>
          </p:nvPr>
        </p:nvSpPr>
        <p:spPr>
          <a:xfrm>
            <a:off x="1524000" y="1122363"/>
            <a:ext cx="9144000" cy="1381125"/>
          </a:xfrm>
        </p:spPr>
        <p:txBody>
          <a:bodyPr/>
          <a:lstStyle/>
          <a:p>
            <a:r>
              <a:rPr lang="en-US" dirty="0"/>
              <a:t>Controller Design</a:t>
            </a:r>
            <a:endParaRPr lang="en-DE" dirty="0"/>
          </a:p>
        </p:txBody>
      </p:sp>
      <p:sp>
        <p:nvSpPr>
          <p:cNvPr id="3" name="Subtitle 2">
            <a:extLst>
              <a:ext uri="{FF2B5EF4-FFF2-40B4-BE49-F238E27FC236}">
                <a16:creationId xmlns:a16="http://schemas.microsoft.com/office/drawing/2014/main" id="{7D8C6B3A-051D-D11E-4616-09A53BDD142B}"/>
              </a:ext>
            </a:extLst>
          </p:cNvPr>
          <p:cNvSpPr>
            <a:spLocks noGrp="1"/>
          </p:cNvSpPr>
          <p:nvPr>
            <p:ph type="subTitle" idx="1"/>
          </p:nvPr>
        </p:nvSpPr>
        <p:spPr>
          <a:xfrm>
            <a:off x="1524000" y="3602038"/>
            <a:ext cx="9144000" cy="1176791"/>
          </a:xfrm>
        </p:spPr>
        <p:txBody>
          <a:bodyPr/>
          <a:lstStyle/>
          <a:p>
            <a:r>
              <a:rPr lang="en-US" b="1" dirty="0"/>
              <a:t>Presentation Exercise 1</a:t>
            </a:r>
          </a:p>
          <a:p>
            <a:r>
              <a:rPr lang="en-US" b="1" dirty="0"/>
              <a:t>Controlled and Uncontrolled Wind Turbine Cases</a:t>
            </a:r>
            <a:endParaRPr lang="en-DE" b="1" dirty="0"/>
          </a:p>
        </p:txBody>
      </p:sp>
      <p:sp>
        <p:nvSpPr>
          <p:cNvPr id="4" name="Date Placeholder 3">
            <a:extLst>
              <a:ext uri="{FF2B5EF4-FFF2-40B4-BE49-F238E27FC236}">
                <a16:creationId xmlns:a16="http://schemas.microsoft.com/office/drawing/2014/main" id="{45F1C7DF-E769-199A-7202-90CD1135773B}"/>
              </a:ext>
            </a:extLst>
          </p:cNvPr>
          <p:cNvSpPr>
            <a:spLocks noGrp="1"/>
          </p:cNvSpPr>
          <p:nvPr>
            <p:ph type="dt" sz="half" idx="10"/>
          </p:nvPr>
        </p:nvSpPr>
        <p:spPr/>
        <p:txBody>
          <a:bodyPr/>
          <a:lstStyle/>
          <a:p>
            <a:fld id="{5C7A84BA-C3CB-4F60-8F5D-A5531E2799FD}" type="datetime1">
              <a:rPr lang="LID4096" smtClean="0"/>
              <a:t>10/12/2025</a:t>
            </a:fld>
            <a:endParaRPr lang="en-DE"/>
          </a:p>
        </p:txBody>
      </p:sp>
      <p:sp>
        <p:nvSpPr>
          <p:cNvPr id="5" name="Footer Placeholder 4">
            <a:extLst>
              <a:ext uri="{FF2B5EF4-FFF2-40B4-BE49-F238E27FC236}">
                <a16:creationId xmlns:a16="http://schemas.microsoft.com/office/drawing/2014/main" id="{D8FF91B6-526A-391E-8A13-F0DE0ACCC936}"/>
              </a:ext>
            </a:extLst>
          </p:cNvPr>
          <p:cNvSpPr>
            <a:spLocks noGrp="1"/>
          </p:cNvSpPr>
          <p:nvPr>
            <p:ph type="ftr" sz="quarter" idx="11"/>
          </p:nvPr>
        </p:nvSpPr>
        <p:spPr/>
        <p:txBody>
          <a:bodyPr/>
          <a:lstStyle/>
          <a:p>
            <a:r>
              <a:rPr lang="en-US"/>
              <a:t>Group 3: Group 3: Federico De Mita, Waqas Ahmed, Dominic Annang, Hesham Magdy, Muthu Sivamuthu  </a:t>
            </a:r>
            <a:endParaRPr lang="en-DE" dirty="0"/>
          </a:p>
        </p:txBody>
      </p:sp>
      <p:sp>
        <p:nvSpPr>
          <p:cNvPr id="6" name="Slide Number Placeholder 5">
            <a:extLst>
              <a:ext uri="{FF2B5EF4-FFF2-40B4-BE49-F238E27FC236}">
                <a16:creationId xmlns:a16="http://schemas.microsoft.com/office/drawing/2014/main" id="{3E386A1C-5B8D-4356-0704-541B778073F5}"/>
              </a:ext>
            </a:extLst>
          </p:cNvPr>
          <p:cNvSpPr>
            <a:spLocks noGrp="1"/>
          </p:cNvSpPr>
          <p:nvPr>
            <p:ph type="sldNum" sz="quarter" idx="12"/>
          </p:nvPr>
        </p:nvSpPr>
        <p:spPr/>
        <p:txBody>
          <a:bodyPr/>
          <a:lstStyle/>
          <a:p>
            <a:fld id="{F9C2340B-4B0F-4DED-BE4C-833C39BBA64E}" type="slidenum">
              <a:rPr lang="en-DE" smtClean="0"/>
              <a:t>1</a:t>
            </a:fld>
            <a:endParaRPr lang="en-DE"/>
          </a:p>
        </p:txBody>
      </p:sp>
    </p:spTree>
    <p:extLst>
      <p:ext uri="{BB962C8B-B14F-4D97-AF65-F5344CB8AC3E}">
        <p14:creationId xmlns:p14="http://schemas.microsoft.com/office/powerpoint/2010/main" val="24910192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810D0-2F72-3FB0-D35D-B49C65FC4F1A}"/>
              </a:ext>
            </a:extLst>
          </p:cNvPr>
          <p:cNvSpPr>
            <a:spLocks noGrp="1"/>
          </p:cNvSpPr>
          <p:nvPr>
            <p:ph type="title"/>
          </p:nvPr>
        </p:nvSpPr>
        <p:spPr/>
        <p:txBody>
          <a:bodyPr/>
          <a:lstStyle/>
          <a:p>
            <a:r>
              <a:rPr lang="en-US" dirty="0"/>
              <a:t>Content:</a:t>
            </a:r>
            <a:endParaRPr lang="en-DE" dirty="0"/>
          </a:p>
        </p:txBody>
      </p:sp>
      <p:sp>
        <p:nvSpPr>
          <p:cNvPr id="3" name="Content Placeholder 2">
            <a:extLst>
              <a:ext uri="{FF2B5EF4-FFF2-40B4-BE49-F238E27FC236}">
                <a16:creationId xmlns:a16="http://schemas.microsoft.com/office/drawing/2014/main" id="{EF4B0AE1-071A-7982-0E73-C74355858D5C}"/>
              </a:ext>
            </a:extLst>
          </p:cNvPr>
          <p:cNvSpPr>
            <a:spLocks noGrp="1"/>
          </p:cNvSpPr>
          <p:nvPr>
            <p:ph idx="1"/>
          </p:nvPr>
        </p:nvSpPr>
        <p:spPr/>
        <p:txBody>
          <a:bodyPr/>
          <a:lstStyle/>
          <a:p>
            <a:pPr marL="514350" indent="-514350">
              <a:buFont typeface="+mj-lt"/>
              <a:buAutoNum type="arabicPeriod"/>
            </a:pPr>
            <a:r>
              <a:rPr lang="en-US" dirty="0"/>
              <a:t>NREL 5 MW Wind Turbine Specifications</a:t>
            </a:r>
          </a:p>
          <a:p>
            <a:pPr marL="514350" indent="-514350">
              <a:buFont typeface="+mj-lt"/>
              <a:buAutoNum type="arabicPeriod"/>
            </a:pPr>
            <a:r>
              <a:rPr lang="en-US" dirty="0"/>
              <a:t>Uncontrolled Wind Turbine</a:t>
            </a:r>
          </a:p>
          <a:p>
            <a:pPr marL="514350" indent="-514350">
              <a:buFont typeface="+mj-lt"/>
              <a:buAutoNum type="arabicPeriod"/>
            </a:pPr>
            <a:r>
              <a:rPr lang="en-US" dirty="0"/>
              <a:t>Controlled Wind Turbine</a:t>
            </a:r>
          </a:p>
          <a:p>
            <a:pPr marL="514350" indent="-514350">
              <a:buFont typeface="+mj-lt"/>
              <a:buAutoNum type="arabicPeriod"/>
            </a:pPr>
            <a:r>
              <a:rPr lang="en-US" dirty="0"/>
              <a:t>Simulation Exercise</a:t>
            </a:r>
          </a:p>
          <a:p>
            <a:endParaRPr lang="en-DE" dirty="0"/>
          </a:p>
        </p:txBody>
      </p:sp>
      <p:sp>
        <p:nvSpPr>
          <p:cNvPr id="4" name="Date Placeholder 3">
            <a:extLst>
              <a:ext uri="{FF2B5EF4-FFF2-40B4-BE49-F238E27FC236}">
                <a16:creationId xmlns:a16="http://schemas.microsoft.com/office/drawing/2014/main" id="{34C2FA67-FA33-80AC-9040-9A8691E31CA5}"/>
              </a:ext>
            </a:extLst>
          </p:cNvPr>
          <p:cNvSpPr>
            <a:spLocks noGrp="1"/>
          </p:cNvSpPr>
          <p:nvPr>
            <p:ph type="dt" sz="half" idx="10"/>
          </p:nvPr>
        </p:nvSpPr>
        <p:spPr/>
        <p:txBody>
          <a:bodyPr/>
          <a:lstStyle/>
          <a:p>
            <a:fld id="{65C8CD56-B1CC-4C9E-9A26-4C3B5D57ED27}" type="datetime1">
              <a:rPr lang="LID4096" smtClean="0"/>
              <a:t>10/12/2025</a:t>
            </a:fld>
            <a:endParaRPr lang="en-DE"/>
          </a:p>
        </p:txBody>
      </p:sp>
      <p:sp>
        <p:nvSpPr>
          <p:cNvPr id="5" name="Footer Placeholder 4">
            <a:extLst>
              <a:ext uri="{FF2B5EF4-FFF2-40B4-BE49-F238E27FC236}">
                <a16:creationId xmlns:a16="http://schemas.microsoft.com/office/drawing/2014/main" id="{3D18AA6D-63C2-937E-B83F-D3ACBF1BDA03}"/>
              </a:ext>
            </a:extLst>
          </p:cNvPr>
          <p:cNvSpPr>
            <a:spLocks noGrp="1"/>
          </p:cNvSpPr>
          <p:nvPr>
            <p:ph type="ftr" sz="quarter" idx="11"/>
          </p:nvPr>
        </p:nvSpPr>
        <p:spPr/>
        <p:txBody>
          <a:bodyPr/>
          <a:lstStyle/>
          <a:p>
            <a:r>
              <a:rPr lang="en-US"/>
              <a:t>Group 3: Group 3: Federico De Mita, Waqas Ahmed, Dominic Annang, Hesham Magdy, Muthu Sivamuthu  </a:t>
            </a:r>
            <a:endParaRPr lang="en-DE"/>
          </a:p>
        </p:txBody>
      </p:sp>
      <p:sp>
        <p:nvSpPr>
          <p:cNvPr id="6" name="Slide Number Placeholder 5">
            <a:extLst>
              <a:ext uri="{FF2B5EF4-FFF2-40B4-BE49-F238E27FC236}">
                <a16:creationId xmlns:a16="http://schemas.microsoft.com/office/drawing/2014/main" id="{0F0CC0EB-DD60-BC0B-C8E2-90CDF281A8B7}"/>
              </a:ext>
            </a:extLst>
          </p:cNvPr>
          <p:cNvSpPr>
            <a:spLocks noGrp="1"/>
          </p:cNvSpPr>
          <p:nvPr>
            <p:ph type="sldNum" sz="quarter" idx="12"/>
          </p:nvPr>
        </p:nvSpPr>
        <p:spPr/>
        <p:txBody>
          <a:bodyPr/>
          <a:lstStyle/>
          <a:p>
            <a:fld id="{F9C2340B-4B0F-4DED-BE4C-833C39BBA64E}" type="slidenum">
              <a:rPr lang="en-DE" smtClean="0"/>
              <a:t>2</a:t>
            </a:fld>
            <a:endParaRPr lang="en-DE"/>
          </a:p>
        </p:txBody>
      </p:sp>
    </p:spTree>
    <p:extLst>
      <p:ext uri="{BB962C8B-B14F-4D97-AF65-F5344CB8AC3E}">
        <p14:creationId xmlns:p14="http://schemas.microsoft.com/office/powerpoint/2010/main" val="25046553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4DEA6-2080-9454-4C88-3D73514C0FF6}"/>
              </a:ext>
            </a:extLst>
          </p:cNvPr>
          <p:cNvSpPr>
            <a:spLocks noGrp="1"/>
          </p:cNvSpPr>
          <p:nvPr>
            <p:ph type="title"/>
          </p:nvPr>
        </p:nvSpPr>
        <p:spPr>
          <a:xfrm>
            <a:off x="239489" y="501798"/>
            <a:ext cx="9220200" cy="973568"/>
          </a:xfrm>
        </p:spPr>
        <p:txBody>
          <a:bodyPr anchor="ctr">
            <a:normAutofit fontScale="90000"/>
          </a:bodyPr>
          <a:lstStyle/>
          <a:p>
            <a:r>
              <a:rPr lang="en-US" b="1" dirty="0"/>
              <a:t> NREL 5 MW Wind Turbine Specifications</a:t>
            </a:r>
            <a:br>
              <a:rPr lang="en-US" b="1" dirty="0"/>
            </a:br>
            <a:r>
              <a:rPr lang="en-US" b="1" dirty="0"/>
              <a:t>Exercise _1.a</a:t>
            </a:r>
            <a:br>
              <a:rPr lang="en-US" b="1" dirty="0"/>
            </a:br>
            <a:endParaRPr lang="en-GB" b="1" dirty="0"/>
          </a:p>
        </p:txBody>
      </p:sp>
      <p:sp>
        <p:nvSpPr>
          <p:cNvPr id="3" name="Date Placeholder 2">
            <a:extLst>
              <a:ext uri="{FF2B5EF4-FFF2-40B4-BE49-F238E27FC236}">
                <a16:creationId xmlns:a16="http://schemas.microsoft.com/office/drawing/2014/main" id="{AB131622-D8E8-5E2D-C979-9BCECE252CE6}"/>
              </a:ext>
            </a:extLst>
          </p:cNvPr>
          <p:cNvSpPr>
            <a:spLocks noGrp="1"/>
          </p:cNvSpPr>
          <p:nvPr>
            <p:ph type="dt" sz="half" idx="10"/>
          </p:nvPr>
        </p:nvSpPr>
        <p:spPr>
          <a:xfrm>
            <a:off x="838200" y="6356350"/>
            <a:ext cx="2743200" cy="365125"/>
          </a:xfrm>
        </p:spPr>
        <p:txBody>
          <a:bodyPr anchor="ctr">
            <a:normAutofit/>
          </a:bodyPr>
          <a:lstStyle/>
          <a:p>
            <a:pPr>
              <a:spcAft>
                <a:spcPts val="600"/>
              </a:spcAft>
            </a:pPr>
            <a:fld id="{31049C38-3C4E-4C9E-9A81-8938A0E3796F}" type="datetime1">
              <a:rPr lang="LID4096" smtClean="0"/>
              <a:t>10/12/2025</a:t>
            </a:fld>
            <a:endParaRPr lang="en-DE"/>
          </a:p>
        </p:txBody>
      </p:sp>
      <p:sp>
        <p:nvSpPr>
          <p:cNvPr id="4" name="Footer Placeholder 3">
            <a:extLst>
              <a:ext uri="{FF2B5EF4-FFF2-40B4-BE49-F238E27FC236}">
                <a16:creationId xmlns:a16="http://schemas.microsoft.com/office/drawing/2014/main" id="{DB9FFA2B-C227-3D9B-8B9E-F03AAF3169E4}"/>
              </a:ext>
            </a:extLst>
          </p:cNvPr>
          <p:cNvSpPr>
            <a:spLocks noGrp="1"/>
          </p:cNvSpPr>
          <p:nvPr>
            <p:ph type="ftr" sz="quarter" idx="11"/>
          </p:nvPr>
        </p:nvSpPr>
        <p:spPr>
          <a:xfrm>
            <a:off x="4038600" y="6356350"/>
            <a:ext cx="4114800" cy="365125"/>
          </a:xfrm>
        </p:spPr>
        <p:txBody>
          <a:bodyPr anchor="ctr">
            <a:normAutofit fontScale="92500" lnSpcReduction="20000"/>
          </a:bodyPr>
          <a:lstStyle/>
          <a:p>
            <a:pPr>
              <a:spcAft>
                <a:spcPts val="600"/>
              </a:spcAft>
            </a:pPr>
            <a:r>
              <a:rPr lang="en-US"/>
              <a:t>Group 3: Group 3: Federico De Mita, Waqas Ahmed, Dominic Annang, Hesham Magdy, Muthu Sivamuthu  </a:t>
            </a:r>
            <a:endParaRPr lang="en-DE"/>
          </a:p>
        </p:txBody>
      </p:sp>
      <p:sp>
        <p:nvSpPr>
          <p:cNvPr id="5" name="Slide Number Placeholder 4">
            <a:extLst>
              <a:ext uri="{FF2B5EF4-FFF2-40B4-BE49-F238E27FC236}">
                <a16:creationId xmlns:a16="http://schemas.microsoft.com/office/drawing/2014/main" id="{E289200E-D4BA-8F78-6CD7-F87BAA1036A1}"/>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F9C2340B-4B0F-4DED-BE4C-833C39BBA64E}" type="slidenum">
              <a:rPr lang="en-DE" smtClean="0"/>
              <a:pPr>
                <a:spcAft>
                  <a:spcPts val="600"/>
                </a:spcAft>
              </a:pPr>
              <a:t>3</a:t>
            </a:fld>
            <a:endParaRPr lang="en-DE"/>
          </a:p>
        </p:txBody>
      </p:sp>
      <p:pic>
        <p:nvPicPr>
          <p:cNvPr id="10" name="Picture 9">
            <a:extLst>
              <a:ext uri="{FF2B5EF4-FFF2-40B4-BE49-F238E27FC236}">
                <a16:creationId xmlns:a16="http://schemas.microsoft.com/office/drawing/2014/main" id="{286165DC-DC37-C179-4159-47B9B72BBA18}"/>
              </a:ext>
            </a:extLst>
          </p:cNvPr>
          <p:cNvPicPr>
            <a:picLocks noChangeAspect="1"/>
          </p:cNvPicPr>
          <p:nvPr/>
        </p:nvPicPr>
        <p:blipFill>
          <a:blip r:embed="rId2"/>
          <a:stretch>
            <a:fillRect/>
          </a:stretch>
        </p:blipFill>
        <p:spPr>
          <a:xfrm>
            <a:off x="689811" y="1771048"/>
            <a:ext cx="10250407" cy="3176337"/>
          </a:xfrm>
          <a:prstGeom prst="rect">
            <a:avLst/>
          </a:prstGeom>
        </p:spPr>
      </p:pic>
    </p:spTree>
    <p:extLst>
      <p:ext uri="{BB962C8B-B14F-4D97-AF65-F5344CB8AC3E}">
        <p14:creationId xmlns:p14="http://schemas.microsoft.com/office/powerpoint/2010/main" val="3817345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9A760-A017-B5E2-93CC-43132F8725E2}"/>
              </a:ext>
            </a:extLst>
          </p:cNvPr>
          <p:cNvSpPr>
            <a:spLocks noGrp="1"/>
          </p:cNvSpPr>
          <p:nvPr>
            <p:ph type="title"/>
          </p:nvPr>
        </p:nvSpPr>
        <p:spPr/>
        <p:txBody>
          <a:bodyPr>
            <a:normAutofit fontScale="90000"/>
          </a:bodyPr>
          <a:lstStyle/>
          <a:p>
            <a:r>
              <a:rPr lang="en-US" b="1" dirty="0"/>
              <a:t>Uncontrolled Wind Turbine</a:t>
            </a:r>
            <a:br>
              <a:rPr lang="en-US" b="1" dirty="0"/>
            </a:br>
            <a:r>
              <a:rPr lang="en-US" b="1" dirty="0"/>
              <a:t>Exercise _1.1.b</a:t>
            </a:r>
            <a:br>
              <a:rPr lang="en-US" b="1" dirty="0"/>
            </a:br>
            <a:endParaRPr lang="en-DE" b="1" dirty="0"/>
          </a:p>
        </p:txBody>
      </p:sp>
      <p:sp>
        <p:nvSpPr>
          <p:cNvPr id="3" name="Content Placeholder 2">
            <a:extLst>
              <a:ext uri="{FF2B5EF4-FFF2-40B4-BE49-F238E27FC236}">
                <a16:creationId xmlns:a16="http://schemas.microsoft.com/office/drawing/2014/main" id="{AC3ECD23-C7EA-FF93-5DDD-CEB683AB0EC8}"/>
              </a:ext>
            </a:extLst>
          </p:cNvPr>
          <p:cNvSpPr>
            <a:spLocks noGrp="1"/>
          </p:cNvSpPr>
          <p:nvPr>
            <p:ph idx="1"/>
          </p:nvPr>
        </p:nvSpPr>
        <p:spPr/>
        <p:txBody>
          <a:bodyPr>
            <a:normAutofit fontScale="70000" lnSpcReduction="20000"/>
          </a:bodyPr>
          <a:lstStyle/>
          <a:p>
            <a:pPr marL="0" indent="0">
              <a:buNone/>
            </a:pPr>
            <a:r>
              <a:rPr lang="en-US" sz="3100" b="1" dirty="0"/>
              <a:t>a. Which tip-speed-ratio will the turbine approach in the uncontrolled case?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Answer: 18</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Generator Torque will be zero </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Turbine will accelerate and reach  some Steady state according to the wind speed</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Change in rotor speed will become zero leading to Aerodynamic Torque equal to zero  </a:t>
            </a: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As Aerodynamic torque is zero, Cp will become zero also</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Also pitch angle is zero (given)</a:t>
            </a:r>
          </a:p>
          <a:p>
            <a:pPr>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From the Cp-Lambda curve for zero degree pitch angle, our lambda is </a:t>
            </a:r>
            <a:r>
              <a:rPr lang="en-US" b="1" dirty="0">
                <a:latin typeface="Times New Roman" panose="02020603050405020304" pitchFamily="18" charset="0"/>
                <a:cs typeface="Times New Roman" panose="02020603050405020304" pitchFamily="18" charset="0"/>
              </a:rPr>
              <a:t>“</a:t>
            </a:r>
            <a:r>
              <a:rPr lang="en-US" sz="3400" b="1" u="sng" dirty="0">
                <a:latin typeface="Times New Roman" panose="02020603050405020304" pitchFamily="18" charset="0"/>
                <a:cs typeface="Times New Roman" panose="02020603050405020304" pitchFamily="18" charset="0"/>
              </a:rPr>
              <a:t>18</a:t>
            </a:r>
            <a:r>
              <a:rPr lang="en-US" sz="3400"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Cp=0.</a:t>
            </a:r>
          </a:p>
          <a:p>
            <a:pPr marL="0" indent="0">
              <a:buNone/>
            </a:pPr>
            <a:br>
              <a:rPr lang="en-US" dirty="0"/>
            </a:br>
            <a:endParaRPr lang="en-DE" dirty="0"/>
          </a:p>
        </p:txBody>
      </p:sp>
      <p:sp>
        <p:nvSpPr>
          <p:cNvPr id="4" name="Date Placeholder 3">
            <a:extLst>
              <a:ext uri="{FF2B5EF4-FFF2-40B4-BE49-F238E27FC236}">
                <a16:creationId xmlns:a16="http://schemas.microsoft.com/office/drawing/2014/main" id="{70938986-0CE2-83BA-2781-DCAC68B8143A}"/>
              </a:ext>
            </a:extLst>
          </p:cNvPr>
          <p:cNvSpPr>
            <a:spLocks noGrp="1"/>
          </p:cNvSpPr>
          <p:nvPr>
            <p:ph type="dt" sz="half" idx="10"/>
          </p:nvPr>
        </p:nvSpPr>
        <p:spPr/>
        <p:txBody>
          <a:bodyPr/>
          <a:lstStyle/>
          <a:p>
            <a:fld id="{86148D0D-2639-47AA-8FDD-10BB614D1B45}" type="datetime1">
              <a:rPr lang="LID4096" smtClean="0"/>
              <a:t>10/12/2025</a:t>
            </a:fld>
            <a:endParaRPr lang="en-DE"/>
          </a:p>
        </p:txBody>
      </p:sp>
      <p:sp>
        <p:nvSpPr>
          <p:cNvPr id="5" name="Footer Placeholder 4">
            <a:extLst>
              <a:ext uri="{FF2B5EF4-FFF2-40B4-BE49-F238E27FC236}">
                <a16:creationId xmlns:a16="http://schemas.microsoft.com/office/drawing/2014/main" id="{991E3E5F-F338-EF8E-B879-600CD672867A}"/>
              </a:ext>
            </a:extLst>
          </p:cNvPr>
          <p:cNvSpPr>
            <a:spLocks noGrp="1"/>
          </p:cNvSpPr>
          <p:nvPr>
            <p:ph type="ftr" sz="quarter" idx="11"/>
          </p:nvPr>
        </p:nvSpPr>
        <p:spPr/>
        <p:txBody>
          <a:bodyPr/>
          <a:lstStyle/>
          <a:p>
            <a:r>
              <a:rPr lang="en-US"/>
              <a:t>Group 3: Group 3: Federico De Mita, Waqas Ahmed, Dominic Annang, Hesham Magdy, Muthu Sivamuthu  </a:t>
            </a:r>
            <a:endParaRPr lang="en-DE"/>
          </a:p>
        </p:txBody>
      </p:sp>
      <p:sp>
        <p:nvSpPr>
          <p:cNvPr id="6" name="Slide Number Placeholder 5">
            <a:extLst>
              <a:ext uri="{FF2B5EF4-FFF2-40B4-BE49-F238E27FC236}">
                <a16:creationId xmlns:a16="http://schemas.microsoft.com/office/drawing/2014/main" id="{72F2D9C0-8397-4155-FF56-0B81751FBEEB}"/>
              </a:ext>
            </a:extLst>
          </p:cNvPr>
          <p:cNvSpPr>
            <a:spLocks noGrp="1"/>
          </p:cNvSpPr>
          <p:nvPr>
            <p:ph type="sldNum" sz="quarter" idx="12"/>
          </p:nvPr>
        </p:nvSpPr>
        <p:spPr/>
        <p:txBody>
          <a:bodyPr/>
          <a:lstStyle/>
          <a:p>
            <a:fld id="{F9C2340B-4B0F-4DED-BE4C-833C39BBA64E}" type="slidenum">
              <a:rPr lang="en-DE" smtClean="0"/>
              <a:t>4</a:t>
            </a:fld>
            <a:endParaRPr lang="en-DE"/>
          </a:p>
        </p:txBody>
      </p:sp>
      <p:sp>
        <p:nvSpPr>
          <p:cNvPr id="8" name="TextBox 7">
            <a:extLst>
              <a:ext uri="{FF2B5EF4-FFF2-40B4-BE49-F238E27FC236}">
                <a16:creationId xmlns:a16="http://schemas.microsoft.com/office/drawing/2014/main" id="{5830FD8A-72E1-0B4B-8227-A3CB49CFE0BB}"/>
              </a:ext>
            </a:extLst>
          </p:cNvPr>
          <p:cNvSpPr txBox="1"/>
          <p:nvPr/>
        </p:nvSpPr>
        <p:spPr>
          <a:xfrm>
            <a:off x="5638800" y="2971800"/>
            <a:ext cx="914400" cy="914400"/>
          </a:xfrm>
          <a:prstGeom prst="rect">
            <a:avLst/>
          </a:prstGeom>
          <a:noFill/>
        </p:spPr>
        <p:txBody>
          <a:bodyPr wrap="square" rtlCol="0">
            <a:spAutoFit/>
          </a:bodyPr>
          <a:lstStyle/>
          <a:p>
            <a:endParaRPr lang="en-DE" dirty="0"/>
          </a:p>
        </p:txBody>
      </p:sp>
      <p:sp>
        <p:nvSpPr>
          <p:cNvPr id="9" name="TextBox 8">
            <a:extLst>
              <a:ext uri="{FF2B5EF4-FFF2-40B4-BE49-F238E27FC236}">
                <a16:creationId xmlns:a16="http://schemas.microsoft.com/office/drawing/2014/main" id="{DFA291CC-05EE-08C5-639C-959E0035D8E2}"/>
              </a:ext>
            </a:extLst>
          </p:cNvPr>
          <p:cNvSpPr txBox="1"/>
          <p:nvPr/>
        </p:nvSpPr>
        <p:spPr>
          <a:xfrm>
            <a:off x="4169229" y="3712030"/>
            <a:ext cx="3004457" cy="522514"/>
          </a:xfrm>
          <a:prstGeom prst="rect">
            <a:avLst/>
          </a:prstGeom>
          <a:noFill/>
        </p:spPr>
        <p:txBody>
          <a:bodyPr wrap="square" rtlCol="0">
            <a:spAutoFit/>
          </a:bodyPr>
          <a:lstStyle/>
          <a:p>
            <a:endParaRPr lang="en-DE" dirty="0"/>
          </a:p>
        </p:txBody>
      </p:sp>
      <p:pic>
        <p:nvPicPr>
          <p:cNvPr id="11" name="Picture 10">
            <a:extLst>
              <a:ext uri="{FF2B5EF4-FFF2-40B4-BE49-F238E27FC236}">
                <a16:creationId xmlns:a16="http://schemas.microsoft.com/office/drawing/2014/main" id="{A3F289C6-0A19-E81A-D9CC-0FE075045D5A}"/>
              </a:ext>
            </a:extLst>
          </p:cNvPr>
          <p:cNvPicPr>
            <a:picLocks noChangeAspect="1"/>
          </p:cNvPicPr>
          <p:nvPr/>
        </p:nvPicPr>
        <p:blipFill>
          <a:blip r:embed="rId2"/>
          <a:stretch>
            <a:fillRect/>
          </a:stretch>
        </p:blipFill>
        <p:spPr>
          <a:xfrm>
            <a:off x="4855146" y="2414461"/>
            <a:ext cx="2220568" cy="417990"/>
          </a:xfrm>
          <a:prstGeom prst="rect">
            <a:avLst/>
          </a:prstGeom>
        </p:spPr>
      </p:pic>
      <p:pic>
        <p:nvPicPr>
          <p:cNvPr id="13" name="Picture 12">
            <a:extLst>
              <a:ext uri="{FF2B5EF4-FFF2-40B4-BE49-F238E27FC236}">
                <a16:creationId xmlns:a16="http://schemas.microsoft.com/office/drawing/2014/main" id="{649D3A92-722B-1018-040F-F847D572AA10}"/>
              </a:ext>
            </a:extLst>
          </p:cNvPr>
          <p:cNvPicPr>
            <a:picLocks noChangeAspect="1"/>
          </p:cNvPicPr>
          <p:nvPr/>
        </p:nvPicPr>
        <p:blipFill>
          <a:blip r:embed="rId3"/>
          <a:stretch>
            <a:fillRect/>
          </a:stretch>
        </p:blipFill>
        <p:spPr>
          <a:xfrm>
            <a:off x="4504784" y="3656445"/>
            <a:ext cx="2516501" cy="713145"/>
          </a:xfrm>
          <a:prstGeom prst="rect">
            <a:avLst/>
          </a:prstGeom>
        </p:spPr>
      </p:pic>
    </p:spTree>
    <p:extLst>
      <p:ext uri="{BB962C8B-B14F-4D97-AF65-F5344CB8AC3E}">
        <p14:creationId xmlns:p14="http://schemas.microsoft.com/office/powerpoint/2010/main" val="4230101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016B4-3FDF-E6A3-C3ED-71F741FE5557}"/>
              </a:ext>
            </a:extLst>
          </p:cNvPr>
          <p:cNvSpPr>
            <a:spLocks noGrp="1"/>
          </p:cNvSpPr>
          <p:nvPr>
            <p:ph type="title"/>
          </p:nvPr>
        </p:nvSpPr>
        <p:spPr>
          <a:xfrm>
            <a:off x="838200" y="365125"/>
            <a:ext cx="6738257" cy="843189"/>
          </a:xfrm>
        </p:spPr>
        <p:txBody>
          <a:bodyPr>
            <a:normAutofit fontScale="90000"/>
          </a:bodyPr>
          <a:lstStyle/>
          <a:p>
            <a:r>
              <a:rPr lang="en-US" b="1" dirty="0"/>
              <a:t>Uncontrolled Wind Turbine</a:t>
            </a:r>
            <a:br>
              <a:rPr lang="en-US" b="1" dirty="0"/>
            </a:br>
            <a:r>
              <a:rPr lang="en-US" b="1" dirty="0"/>
              <a:t>Exercise _1.1.c</a:t>
            </a:r>
            <a:endParaRPr lang="en-D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182218E-08C3-D0B5-FF1B-7FC971B47A24}"/>
                  </a:ext>
                </a:extLst>
              </p:cNvPr>
              <p:cNvSpPr>
                <a:spLocks noGrp="1"/>
              </p:cNvSpPr>
              <p:nvPr>
                <p:ph idx="1"/>
              </p:nvPr>
            </p:nvSpPr>
            <p:spPr>
              <a:xfrm>
                <a:off x="838200" y="1638073"/>
                <a:ext cx="10515600" cy="4718277"/>
              </a:xfrm>
            </p:spPr>
            <p:txBody>
              <a:bodyPr>
                <a:normAutofit lnSpcReduction="10000"/>
              </a:bodyPr>
              <a:lstStyle/>
              <a:p>
                <a:pPr marL="0" indent="0">
                  <a:buNone/>
                </a:pPr>
                <a:r>
                  <a:rPr lang="en-US" sz="2400" b="1" dirty="0"/>
                  <a:t>c) At which wind speed the blade tips would break the sound barrier in the uncontrolled case? </a:t>
                </a:r>
              </a:p>
              <a:p>
                <a:pPr>
                  <a:buFont typeface="Wingdings" panose="05000000000000000000" pitchFamily="2" charset="2"/>
                  <a:buChar char="Ø"/>
                </a:pPr>
                <a:r>
                  <a:rPr lang="en-US" sz="2000" dirty="0"/>
                  <a:t>Blade tips will break the sound barrier when Tip speed = 343 m/s</a:t>
                </a:r>
              </a:p>
              <a:p>
                <a:pPr>
                  <a:buFont typeface="Wingdings" panose="05000000000000000000" pitchFamily="2" charset="2"/>
                  <a:buChar char="Ø"/>
                </a:pPr>
                <a:r>
                  <a:rPr lang="en-US" sz="2000" dirty="0"/>
                  <a:t>Lambda=TSR= 18 (from part b)</a:t>
                </a:r>
              </a:p>
              <a:p>
                <a:pPr marL="0" indent="0">
                  <a:buNone/>
                </a:pPr>
                <a:endParaRPr lang="en-US" sz="2000" dirty="0"/>
              </a:p>
              <a:p>
                <a:pPr>
                  <a:buFont typeface="Wingdings" panose="05000000000000000000" pitchFamily="2" charset="2"/>
                  <a:buChar char="Ø"/>
                </a:pPr>
                <a:r>
                  <a:rPr lang="en-US" sz="2000" dirty="0"/>
                  <a:t>Wind Speed =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𝑣</m:t>
                        </m:r>
                      </m:e>
                      <m:sub>
                        <m:r>
                          <a:rPr lang="en-US" i="1" smtClean="0">
                            <a:latin typeface="Cambria Math" panose="02040503050406030204" pitchFamily="18" charset="0"/>
                            <a:ea typeface="Cambria Math" panose="02040503050406030204" pitchFamily="18" charset="0"/>
                          </a:rPr>
                          <m:t>𝜊</m:t>
                        </m:r>
                      </m:sub>
                    </m:sSub>
                  </m:oMath>
                </a14:m>
                <a:r>
                  <a:rPr lang="en-US" dirty="0"/>
                  <a:t>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𝑅</m:t>
                        </m:r>
                        <m:r>
                          <a:rPr lang="en-US" b="0" i="1" smtClean="0">
                            <a:latin typeface="Cambria Math" panose="02040503050406030204" pitchFamily="18" charset="0"/>
                          </a:rPr>
                          <m:t>. </m:t>
                        </m:r>
                        <m:r>
                          <m:rPr>
                            <m:sty m:val="p"/>
                          </m:rPr>
                          <a:rPr lang="el-GR" b="0" i="1" smtClean="0">
                            <a:latin typeface="Cambria Math" panose="02040503050406030204" pitchFamily="18" charset="0"/>
                            <a:ea typeface="Cambria Math" panose="02040503050406030204" pitchFamily="18" charset="0"/>
                          </a:rPr>
                          <m:t>Ω</m:t>
                        </m:r>
                      </m:num>
                      <m:den>
                        <m:r>
                          <a:rPr lang="en-US" i="1" smtClean="0">
                            <a:latin typeface="Cambria Math" panose="02040503050406030204" pitchFamily="18" charset="0"/>
                            <a:ea typeface="Cambria Math" panose="02040503050406030204" pitchFamily="18" charset="0"/>
                          </a:rPr>
                          <m:t>𝜆</m:t>
                        </m:r>
                      </m:den>
                    </m:f>
                  </m:oMath>
                </a14:m>
                <a:r>
                  <a:rPr lang="en-US" dirty="0"/>
                  <a:t> </a:t>
                </a:r>
                <a:r>
                  <a:rPr lang="en-US" sz="2400" dirty="0"/>
                  <a:t>  = 19.06 m/s</a:t>
                </a:r>
              </a:p>
              <a:p>
                <a:pPr>
                  <a:buFont typeface="Wingdings" panose="05000000000000000000" pitchFamily="2" charset="2"/>
                  <a:buChar char="Ø"/>
                </a:pPr>
                <a:endParaRPr lang="en-US" sz="2400" dirty="0"/>
              </a:p>
              <a:p>
                <a:pPr>
                  <a:buFont typeface="Wingdings" panose="05000000000000000000" pitchFamily="2" charset="2"/>
                  <a:buChar char="Ø"/>
                </a:pPr>
                <a:r>
                  <a:rPr lang="en-US" sz="2400" dirty="0"/>
                  <a:t>Blade tips would break the sound barrier at wind speed of </a:t>
                </a:r>
                <a:r>
                  <a:rPr lang="en-US" sz="2400" b="1" u="sng" dirty="0"/>
                  <a:t>19.06 m/s</a:t>
                </a:r>
                <a:r>
                  <a:rPr lang="en-US" sz="2400" dirty="0"/>
                  <a:t>.</a:t>
                </a:r>
              </a:p>
              <a:p>
                <a:pPr>
                  <a:buFont typeface="Wingdings" panose="05000000000000000000" pitchFamily="2" charset="2"/>
                  <a:buChar char="Ø"/>
                </a:pPr>
                <a:endParaRPr lang="en-US" sz="2000" dirty="0"/>
              </a:p>
              <a:p>
                <a:pPr marL="0" indent="0">
                  <a:buNone/>
                </a:pPr>
                <a:br>
                  <a:rPr lang="en-US" dirty="0"/>
                </a:br>
                <a:endParaRPr lang="en-DE" dirty="0"/>
              </a:p>
            </p:txBody>
          </p:sp>
        </mc:Choice>
        <mc:Fallback xmlns="">
          <p:sp>
            <p:nvSpPr>
              <p:cNvPr id="3" name="Content Placeholder 2">
                <a:extLst>
                  <a:ext uri="{FF2B5EF4-FFF2-40B4-BE49-F238E27FC236}">
                    <a16:creationId xmlns:a16="http://schemas.microsoft.com/office/drawing/2014/main" id="{4182218E-08C3-D0B5-FF1B-7FC971B47A24}"/>
                  </a:ext>
                </a:extLst>
              </p:cNvPr>
              <p:cNvSpPr>
                <a:spLocks noGrp="1" noRot="1" noChangeAspect="1" noMove="1" noResize="1" noEditPoints="1" noAdjustHandles="1" noChangeArrowheads="1" noChangeShapeType="1" noTextEdit="1"/>
              </p:cNvSpPr>
              <p:nvPr>
                <p:ph idx="1"/>
              </p:nvPr>
            </p:nvSpPr>
            <p:spPr>
              <a:xfrm>
                <a:off x="838200" y="1638073"/>
                <a:ext cx="10515600" cy="4718277"/>
              </a:xfrm>
              <a:blipFill>
                <a:blip r:embed="rId2"/>
                <a:stretch>
                  <a:fillRect l="-928" t="-2326"/>
                </a:stretch>
              </a:blipFill>
            </p:spPr>
            <p:txBody>
              <a:bodyPr/>
              <a:lstStyle/>
              <a:p>
                <a:r>
                  <a:rPr lang="en-DE">
                    <a:noFill/>
                  </a:rPr>
                  <a:t> </a:t>
                </a:r>
              </a:p>
            </p:txBody>
          </p:sp>
        </mc:Fallback>
      </mc:AlternateContent>
      <p:sp>
        <p:nvSpPr>
          <p:cNvPr id="4" name="Date Placeholder 3">
            <a:extLst>
              <a:ext uri="{FF2B5EF4-FFF2-40B4-BE49-F238E27FC236}">
                <a16:creationId xmlns:a16="http://schemas.microsoft.com/office/drawing/2014/main" id="{C41EE0E7-8B17-CBAB-D2DE-7658AB9AB348}"/>
              </a:ext>
            </a:extLst>
          </p:cNvPr>
          <p:cNvSpPr>
            <a:spLocks noGrp="1"/>
          </p:cNvSpPr>
          <p:nvPr>
            <p:ph type="dt" sz="half" idx="10"/>
          </p:nvPr>
        </p:nvSpPr>
        <p:spPr/>
        <p:txBody>
          <a:bodyPr/>
          <a:lstStyle/>
          <a:p>
            <a:fld id="{28EE71FD-7D50-4974-A38A-D2A4EE6128F3}" type="datetime1">
              <a:rPr lang="LID4096" smtClean="0"/>
              <a:t>10/12/2025</a:t>
            </a:fld>
            <a:endParaRPr lang="en-DE"/>
          </a:p>
        </p:txBody>
      </p:sp>
      <p:sp>
        <p:nvSpPr>
          <p:cNvPr id="5" name="Footer Placeholder 4">
            <a:extLst>
              <a:ext uri="{FF2B5EF4-FFF2-40B4-BE49-F238E27FC236}">
                <a16:creationId xmlns:a16="http://schemas.microsoft.com/office/drawing/2014/main" id="{CFA7F084-42AA-1DF5-DD92-8EF88B15FFF5}"/>
              </a:ext>
            </a:extLst>
          </p:cNvPr>
          <p:cNvSpPr>
            <a:spLocks noGrp="1"/>
          </p:cNvSpPr>
          <p:nvPr>
            <p:ph type="ftr" sz="quarter" idx="11"/>
          </p:nvPr>
        </p:nvSpPr>
        <p:spPr/>
        <p:txBody>
          <a:bodyPr/>
          <a:lstStyle/>
          <a:p>
            <a:r>
              <a:rPr lang="en-US"/>
              <a:t>Group 3: Group 3: Federico De Mita, Waqas Ahmed, Dominic Annang, Hesham Magdy, Muthu Sivamuthu  </a:t>
            </a:r>
            <a:endParaRPr lang="en-DE"/>
          </a:p>
        </p:txBody>
      </p:sp>
      <p:sp>
        <p:nvSpPr>
          <p:cNvPr id="6" name="Slide Number Placeholder 5">
            <a:extLst>
              <a:ext uri="{FF2B5EF4-FFF2-40B4-BE49-F238E27FC236}">
                <a16:creationId xmlns:a16="http://schemas.microsoft.com/office/drawing/2014/main" id="{A5A910FF-BFF1-D22E-000B-69F1ED396AB4}"/>
              </a:ext>
            </a:extLst>
          </p:cNvPr>
          <p:cNvSpPr>
            <a:spLocks noGrp="1"/>
          </p:cNvSpPr>
          <p:nvPr>
            <p:ph type="sldNum" sz="quarter" idx="12"/>
          </p:nvPr>
        </p:nvSpPr>
        <p:spPr/>
        <p:txBody>
          <a:bodyPr/>
          <a:lstStyle/>
          <a:p>
            <a:fld id="{F9C2340B-4B0F-4DED-BE4C-833C39BBA64E}" type="slidenum">
              <a:rPr lang="en-DE" smtClean="0"/>
              <a:t>5</a:t>
            </a:fld>
            <a:endParaRPr lang="en-DE"/>
          </a:p>
        </p:txBody>
      </p:sp>
    </p:spTree>
    <p:extLst>
      <p:ext uri="{BB962C8B-B14F-4D97-AF65-F5344CB8AC3E}">
        <p14:creationId xmlns:p14="http://schemas.microsoft.com/office/powerpoint/2010/main" val="37694441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B10FE-666D-32CD-7672-3F2C21FC24E4}"/>
              </a:ext>
            </a:extLst>
          </p:cNvPr>
          <p:cNvSpPr>
            <a:spLocks noGrp="1"/>
          </p:cNvSpPr>
          <p:nvPr>
            <p:ph type="title"/>
          </p:nvPr>
        </p:nvSpPr>
        <p:spPr>
          <a:xfrm>
            <a:off x="1110343" y="522514"/>
            <a:ext cx="6912429" cy="609600"/>
          </a:xfrm>
        </p:spPr>
        <p:txBody>
          <a:bodyPr>
            <a:normAutofit fontScale="90000"/>
          </a:bodyPr>
          <a:lstStyle/>
          <a:p>
            <a:r>
              <a:rPr lang="en-US" sz="4900" b="1" dirty="0"/>
              <a:t>Controlled Wind Turbine</a:t>
            </a:r>
            <a:br>
              <a:rPr lang="en-US" sz="4900" b="1" dirty="0"/>
            </a:br>
            <a:r>
              <a:rPr lang="en-US" b="1" dirty="0"/>
              <a:t>Exercise _1.2.a</a:t>
            </a:r>
            <a:br>
              <a:rPr lang="en-US" dirty="0"/>
            </a:br>
            <a:endParaRPr lang="en-D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19FFB72-17F0-9AD3-E0B6-CA963CC6149E}"/>
                  </a:ext>
                </a:extLst>
              </p:cNvPr>
              <p:cNvSpPr>
                <a:spLocks noGrp="1"/>
              </p:cNvSpPr>
              <p:nvPr>
                <p:ph idx="1"/>
              </p:nvPr>
            </p:nvSpPr>
            <p:spPr>
              <a:xfrm>
                <a:off x="838200" y="1469571"/>
                <a:ext cx="10515600" cy="4707392"/>
              </a:xfrm>
            </p:spPr>
            <p:txBody>
              <a:bodyPr>
                <a:normAutofit/>
              </a:bodyPr>
              <a:lstStyle/>
              <a:p>
                <a:pPr marL="0" indent="0">
                  <a:buNone/>
                </a:pPr>
                <a:r>
                  <a:rPr lang="en-US" dirty="0"/>
                  <a:t>5 MW wind turbine is operating in above rated wind conditions. </a:t>
                </a:r>
                <a:br>
                  <a:rPr lang="en-US" dirty="0"/>
                </a:br>
                <a:r>
                  <a:rPr lang="en-US" b="1" dirty="0"/>
                  <a:t>a) What will be the rated generator torque?</a:t>
                </a:r>
                <a:r>
                  <a:rPr lang="en-US" sz="4400" b="1" dirty="0"/>
                  <a:t> </a:t>
                </a:r>
              </a:p>
              <a:p>
                <a:pPr>
                  <a:buFont typeface="Wingdings" panose="05000000000000000000" pitchFamily="2" charset="2"/>
                  <a:buChar char="Ø"/>
                </a:pPr>
                <a:r>
                  <a:rPr lang="en-US" sz="2000" dirty="0"/>
                  <a:t>Above rated wind speed, the generator torque and rotor speed  is equal to the rated.</a:t>
                </a:r>
              </a:p>
              <a:p>
                <a:pPr>
                  <a:buFont typeface="Wingdings" panose="05000000000000000000" pitchFamily="2" charset="2"/>
                  <a:buChar char="Ø"/>
                </a:pPr>
                <a:endParaRPr lang="en-US" sz="2000" dirty="0"/>
              </a:p>
              <a:p>
                <a:pPr>
                  <a:buFont typeface="Wingdings" panose="05000000000000000000" pitchFamily="2" charset="2"/>
                  <a:buChar char="Ø"/>
                </a:pPr>
                <a:endParaRPr lang="en-US" sz="2000" dirty="0"/>
              </a:p>
              <a:p>
                <a:pPr>
                  <a:buFont typeface="Wingdings" panose="05000000000000000000" pitchFamily="2" charset="2"/>
                  <a:buChar char="Ø"/>
                </a:pPr>
                <a:r>
                  <a:rPr lang="en-US" sz="2000" dirty="0"/>
                  <a:t>Rated Generator torque=   </a:t>
                </a:r>
                <a14:m>
                  <m:oMath xmlns:m="http://schemas.openxmlformats.org/officeDocument/2006/math">
                    <m:f>
                      <m:fPr>
                        <m:ctrlPr>
                          <a:rPr lang="en-US" i="1" smtClean="0">
                            <a:latin typeface="Cambria Math" panose="02040503050406030204" pitchFamily="18" charset="0"/>
                          </a:rPr>
                        </m:ctrlPr>
                      </m:fPr>
                      <m:num>
                        <m:sSub>
                          <m:sSubPr>
                            <m:ctrlPr>
                              <a:rPr lang="en-US" i="1" smtClean="0">
                                <a:latin typeface="Cambria Math" panose="02040503050406030204" pitchFamily="18" charset="0"/>
                              </a:rPr>
                            </m:ctrlPr>
                          </m:sSubPr>
                          <m:e>
                            <m:r>
                              <a:rPr lang="en-US" b="0" i="1" smtClean="0">
                                <a:latin typeface="Cambria Math" panose="02040503050406030204" pitchFamily="18" charset="0"/>
                              </a:rPr>
                              <m:t>𝑃</m:t>
                            </m:r>
                          </m:e>
                          <m:sub>
                            <m:r>
                              <a:rPr lang="en-US" b="0" i="1" smtClean="0">
                                <a:latin typeface="Cambria Math" panose="02040503050406030204" pitchFamily="18" charset="0"/>
                              </a:rPr>
                              <m:t>𝑒𝑙</m:t>
                            </m:r>
                          </m:sub>
                        </m:sSub>
                      </m:num>
                      <m:den>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𝜂</m:t>
                            </m:r>
                          </m:e>
                          <m:sub>
                            <m:r>
                              <a:rPr lang="en-US" b="0" i="1" smtClean="0">
                                <a:latin typeface="Cambria Math" panose="02040503050406030204" pitchFamily="18" charset="0"/>
                              </a:rPr>
                              <m:t>𝑒𝑙</m:t>
                            </m:r>
                          </m:sub>
                        </m:sSub>
                        <m:r>
                          <a:rPr lang="en-US" b="0" i="1" smtClean="0">
                            <a:latin typeface="Cambria Math" panose="02040503050406030204" pitchFamily="18" charset="0"/>
                          </a:rPr>
                          <m:t> .</m:t>
                        </m:r>
                        <m:r>
                          <m:rPr>
                            <m:sty m:val="p"/>
                          </m:rPr>
                          <a:rPr lang="el-GR" i="1" smtClean="0">
                            <a:latin typeface="Cambria Math" panose="02040503050406030204" pitchFamily="18" charset="0"/>
                            <a:ea typeface="Cambria Math" panose="02040503050406030204" pitchFamily="18" charset="0"/>
                          </a:rPr>
                          <m:t>Ω</m:t>
                        </m:r>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𝑟</m:t>
                            </m:r>
                          </m:e>
                          <m:sub>
                            <m:r>
                              <a:rPr lang="en-US" b="0" i="1" smtClean="0">
                                <a:latin typeface="Cambria Math" panose="02040503050406030204" pitchFamily="18" charset="0"/>
                                <a:ea typeface="Cambria Math" panose="02040503050406030204" pitchFamily="18" charset="0"/>
                              </a:rPr>
                              <m:t>𝐺𝐵</m:t>
                            </m:r>
                            <m:r>
                              <a:rPr lang="en-US" b="0" i="1" smtClean="0">
                                <a:latin typeface="Cambria Math" panose="02040503050406030204" pitchFamily="18" charset="0"/>
                                <a:ea typeface="Cambria Math" panose="02040503050406030204" pitchFamily="18" charset="0"/>
                              </a:rPr>
                              <m:t> </m:t>
                            </m:r>
                          </m:sub>
                        </m:sSub>
                      </m:den>
                    </m:f>
                  </m:oMath>
                </a14:m>
                <a:r>
                  <a:rPr lang="en-US" sz="4400" dirty="0"/>
                  <a:t> = </a:t>
                </a:r>
                <a:r>
                  <a:rPr lang="en-US" dirty="0"/>
                  <a:t>43.094  </a:t>
                </a:r>
                <a:r>
                  <a:rPr lang="en-US" dirty="0" err="1"/>
                  <a:t>kNm</a:t>
                </a:r>
                <a:br>
                  <a:rPr lang="en-US" sz="4400" dirty="0"/>
                </a:br>
                <a:endParaRPr lang="en-US" sz="4400" dirty="0"/>
              </a:p>
            </p:txBody>
          </p:sp>
        </mc:Choice>
        <mc:Fallback xmlns="">
          <p:sp>
            <p:nvSpPr>
              <p:cNvPr id="3" name="Content Placeholder 2">
                <a:extLst>
                  <a:ext uri="{FF2B5EF4-FFF2-40B4-BE49-F238E27FC236}">
                    <a16:creationId xmlns:a16="http://schemas.microsoft.com/office/drawing/2014/main" id="{019FFB72-17F0-9AD3-E0B6-CA963CC6149E}"/>
                  </a:ext>
                </a:extLst>
              </p:cNvPr>
              <p:cNvSpPr>
                <a:spLocks noGrp="1" noRot="1" noChangeAspect="1" noMove="1" noResize="1" noEditPoints="1" noAdjustHandles="1" noChangeArrowheads="1" noChangeShapeType="1" noTextEdit="1"/>
              </p:cNvSpPr>
              <p:nvPr>
                <p:ph idx="1"/>
              </p:nvPr>
            </p:nvSpPr>
            <p:spPr>
              <a:xfrm>
                <a:off x="838200" y="1469571"/>
                <a:ext cx="10515600" cy="4707392"/>
              </a:xfrm>
              <a:blipFill>
                <a:blip r:embed="rId2"/>
                <a:stretch>
                  <a:fillRect l="-1217" t="-2202"/>
                </a:stretch>
              </a:blipFill>
            </p:spPr>
            <p:txBody>
              <a:bodyPr/>
              <a:lstStyle/>
              <a:p>
                <a:r>
                  <a:rPr lang="en-DE">
                    <a:noFill/>
                  </a:rPr>
                  <a:t> </a:t>
                </a:r>
              </a:p>
            </p:txBody>
          </p:sp>
        </mc:Fallback>
      </mc:AlternateContent>
      <p:sp>
        <p:nvSpPr>
          <p:cNvPr id="4" name="Date Placeholder 3">
            <a:extLst>
              <a:ext uri="{FF2B5EF4-FFF2-40B4-BE49-F238E27FC236}">
                <a16:creationId xmlns:a16="http://schemas.microsoft.com/office/drawing/2014/main" id="{296AF048-2A9C-0E86-3395-08C1870FDE12}"/>
              </a:ext>
            </a:extLst>
          </p:cNvPr>
          <p:cNvSpPr>
            <a:spLocks noGrp="1"/>
          </p:cNvSpPr>
          <p:nvPr>
            <p:ph type="dt" sz="half" idx="10"/>
          </p:nvPr>
        </p:nvSpPr>
        <p:spPr/>
        <p:txBody>
          <a:bodyPr/>
          <a:lstStyle/>
          <a:p>
            <a:fld id="{9A55C72D-DCAB-4CE9-9B6A-C1594A805DE0}" type="datetime1">
              <a:rPr lang="LID4096" smtClean="0"/>
              <a:t>10/12/2025</a:t>
            </a:fld>
            <a:endParaRPr lang="en-DE"/>
          </a:p>
        </p:txBody>
      </p:sp>
      <p:sp>
        <p:nvSpPr>
          <p:cNvPr id="5" name="Footer Placeholder 4">
            <a:extLst>
              <a:ext uri="{FF2B5EF4-FFF2-40B4-BE49-F238E27FC236}">
                <a16:creationId xmlns:a16="http://schemas.microsoft.com/office/drawing/2014/main" id="{BA125283-7254-97EF-FA95-D549A9B2B5EC}"/>
              </a:ext>
            </a:extLst>
          </p:cNvPr>
          <p:cNvSpPr>
            <a:spLocks noGrp="1"/>
          </p:cNvSpPr>
          <p:nvPr>
            <p:ph type="ftr" sz="quarter" idx="11"/>
          </p:nvPr>
        </p:nvSpPr>
        <p:spPr/>
        <p:txBody>
          <a:bodyPr/>
          <a:lstStyle/>
          <a:p>
            <a:r>
              <a:rPr lang="en-US"/>
              <a:t>Group 3: Group 3: Federico De Mita, Waqas Ahmed, Dominic Annang, Hesham Magdy, Muthu Sivamuthu  </a:t>
            </a:r>
            <a:endParaRPr lang="en-DE"/>
          </a:p>
        </p:txBody>
      </p:sp>
      <p:sp>
        <p:nvSpPr>
          <p:cNvPr id="6" name="Slide Number Placeholder 5">
            <a:extLst>
              <a:ext uri="{FF2B5EF4-FFF2-40B4-BE49-F238E27FC236}">
                <a16:creationId xmlns:a16="http://schemas.microsoft.com/office/drawing/2014/main" id="{3935E10E-CD73-AF7E-A2EC-B969A408934F}"/>
              </a:ext>
            </a:extLst>
          </p:cNvPr>
          <p:cNvSpPr>
            <a:spLocks noGrp="1"/>
          </p:cNvSpPr>
          <p:nvPr>
            <p:ph type="sldNum" sz="quarter" idx="12"/>
          </p:nvPr>
        </p:nvSpPr>
        <p:spPr/>
        <p:txBody>
          <a:bodyPr/>
          <a:lstStyle/>
          <a:p>
            <a:fld id="{F9C2340B-4B0F-4DED-BE4C-833C39BBA64E}" type="slidenum">
              <a:rPr lang="en-DE" smtClean="0"/>
              <a:t>6</a:t>
            </a:fld>
            <a:endParaRPr lang="en-DE"/>
          </a:p>
        </p:txBody>
      </p:sp>
    </p:spTree>
    <p:extLst>
      <p:ext uri="{BB962C8B-B14F-4D97-AF65-F5344CB8AC3E}">
        <p14:creationId xmlns:p14="http://schemas.microsoft.com/office/powerpoint/2010/main" val="261563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2AEC9-88BD-F240-B278-149FF726B8B5}"/>
              </a:ext>
            </a:extLst>
          </p:cNvPr>
          <p:cNvSpPr>
            <a:spLocks noGrp="1"/>
          </p:cNvSpPr>
          <p:nvPr>
            <p:ph type="title"/>
          </p:nvPr>
        </p:nvSpPr>
        <p:spPr>
          <a:xfrm>
            <a:off x="751115" y="278266"/>
            <a:ext cx="10515600" cy="1009651"/>
          </a:xfrm>
        </p:spPr>
        <p:txBody>
          <a:bodyPr>
            <a:normAutofit fontScale="90000"/>
          </a:bodyPr>
          <a:lstStyle/>
          <a:p>
            <a:r>
              <a:rPr lang="en-US" b="1" dirty="0"/>
              <a:t>Controlled Wind Turbine</a:t>
            </a:r>
            <a:br>
              <a:rPr lang="en-US" b="1" dirty="0"/>
            </a:br>
            <a:r>
              <a:rPr lang="en-US" b="1" dirty="0"/>
              <a:t>Exercise _1.2.b</a:t>
            </a:r>
            <a:endParaRPr lang="en-D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128F227-D90B-A80E-1CB7-3C7202E78945}"/>
                  </a:ext>
                </a:extLst>
              </p:cNvPr>
              <p:cNvSpPr>
                <a:spLocks noGrp="1"/>
              </p:cNvSpPr>
              <p:nvPr>
                <p:ph idx="1"/>
              </p:nvPr>
            </p:nvSpPr>
            <p:spPr>
              <a:xfrm>
                <a:off x="838199" y="1524000"/>
                <a:ext cx="11136087" cy="4652963"/>
              </a:xfrm>
            </p:spPr>
            <p:txBody>
              <a:bodyPr>
                <a:normAutofit fontScale="92500" lnSpcReduction="20000"/>
              </a:bodyPr>
              <a:lstStyle/>
              <a:p>
                <a:r>
                  <a:rPr lang="en-US" dirty="0"/>
                  <a:t>5 MW wind turbine is operating in above rated wind conditions.</a:t>
                </a:r>
              </a:p>
              <a:p>
                <a:r>
                  <a:rPr lang="en-US" dirty="0"/>
                  <a:t>b) Which pitch angle will be reached at 16 m</a:t>
                </a:r>
                <a:r>
                  <a:rPr lang="en-US" i="1" dirty="0"/>
                  <a:t>/</a:t>
                </a:r>
                <a:r>
                  <a:rPr lang="en-US" dirty="0"/>
                  <a:t>s? </a:t>
                </a:r>
              </a:p>
              <a:p>
                <a:pPr>
                  <a:buFont typeface="Wingdings" panose="05000000000000000000" pitchFamily="2" charset="2"/>
                  <a:buChar char="Ø"/>
                </a:pPr>
                <a:r>
                  <a:rPr lang="en-US" dirty="0"/>
                  <a:t>TSR @ 16 m/s= </a:t>
                </a:r>
                <a14:m>
                  <m:oMath xmlns:m="http://schemas.openxmlformats.org/officeDocument/2006/math">
                    <m:r>
                      <a:rPr lang="en-US" i="1">
                        <a:latin typeface="Cambria Math" panose="02040503050406030204" pitchFamily="18" charset="0"/>
                        <a:ea typeface="Cambria Math" panose="02040503050406030204" pitchFamily="18" charset="0"/>
                      </a:rPr>
                      <m:t>𝜆</m:t>
                    </m:r>
                    <m:r>
                      <a:rPr lang="en-US" i="1">
                        <a:latin typeface="Cambria Math" panose="02040503050406030204" pitchFamily="18" charset="0"/>
                        <a:ea typeface="Cambria Math" panose="02040503050406030204" pitchFamily="18" charset="0"/>
                      </a:rPr>
                      <m:t> </m:t>
                    </m:r>
                  </m:oMath>
                </a14:m>
                <a:r>
                  <a:rPr lang="en-US" dirty="0"/>
                  <a:t>=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𝑅</m:t>
                        </m:r>
                        <m:r>
                          <a:rPr lang="en-US" i="1">
                            <a:latin typeface="Cambria Math" panose="02040503050406030204" pitchFamily="18" charset="0"/>
                          </a:rPr>
                          <m:t>. </m:t>
                        </m:r>
                        <m:r>
                          <m:rPr>
                            <m:sty m:val="p"/>
                          </m:rPr>
                          <a:rPr lang="el-GR" i="1">
                            <a:latin typeface="Cambria Math" panose="02040503050406030204" pitchFamily="18" charset="0"/>
                            <a:ea typeface="Cambria Math" panose="02040503050406030204" pitchFamily="18" charset="0"/>
                          </a:rPr>
                          <m:t>Ω</m:t>
                        </m:r>
                      </m:num>
                      <m:den>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ea typeface="Cambria Math" panose="02040503050406030204" pitchFamily="18" charset="0"/>
                              </a:rPr>
                              <m:t>𝜊</m:t>
                            </m:r>
                          </m:sub>
                        </m:sSub>
                      </m:den>
                    </m:f>
                  </m:oMath>
                </a14:m>
                <a:r>
                  <a:rPr lang="en-US" dirty="0"/>
                  <a:t> = </a:t>
                </a:r>
                <a:r>
                  <a:rPr lang="en-DE" dirty="0"/>
                  <a:t>4.9892</a:t>
                </a:r>
              </a:p>
              <a:p>
                <a:pPr>
                  <a:buFont typeface="Wingdings" panose="05000000000000000000" pitchFamily="2" charset="2"/>
                  <a:buChar char="Ø"/>
                </a:pPr>
                <a:endParaRPr lang="en-US" dirty="0"/>
              </a:p>
              <a:p>
                <a:pPr>
                  <a:buFont typeface="Wingdings" panose="05000000000000000000" pitchFamily="2" charset="2"/>
                  <a:buChar char="Ø"/>
                </a:pPr>
                <a:r>
                  <a:rPr lang="en-US" dirty="0"/>
                  <a:t>Rated Rotor Torque= </a:t>
                </a:r>
                <a:r>
                  <a:rPr lang="en-US" i="1" dirty="0" err="1"/>
                  <a:t>M</a:t>
                </a:r>
                <a:r>
                  <a:rPr lang="en-US" dirty="0" err="1"/>
                  <a:t>a_r</a:t>
                </a:r>
                <a:r>
                  <a:rPr lang="en-US" dirty="0"/>
                  <a:t>= </a:t>
                </a:r>
                <a:r>
                  <a:rPr lang="en-US" i="1" dirty="0" err="1"/>
                  <a:t>M_</a:t>
                </a:r>
                <a:r>
                  <a:rPr lang="en-US" dirty="0" err="1"/>
                  <a:t>g</a:t>
                </a:r>
                <a:r>
                  <a:rPr lang="en-US" dirty="0"/>
                  <a:t>* </a:t>
                </a:r>
                <a:r>
                  <a:rPr lang="en-US" i="1" dirty="0"/>
                  <a:t>r_</a:t>
                </a:r>
                <a:r>
                  <a:rPr lang="en-US" dirty="0"/>
                  <a:t>GB = 43.094 </a:t>
                </a:r>
                <a:r>
                  <a:rPr lang="en-US" dirty="0" err="1"/>
                  <a:t>kNm</a:t>
                </a:r>
                <a:r>
                  <a:rPr lang="en-US" dirty="0"/>
                  <a:t> * 97= </a:t>
                </a:r>
                <a:r>
                  <a:rPr lang="en-DE" dirty="0"/>
                  <a:t>4</a:t>
                </a:r>
                <a:r>
                  <a:rPr lang="en-US" dirty="0"/>
                  <a:t>.</a:t>
                </a:r>
                <a:r>
                  <a:rPr lang="en-DE" dirty="0"/>
                  <a:t>18</a:t>
                </a:r>
                <a:r>
                  <a:rPr lang="en-US" dirty="0"/>
                  <a:t> </a:t>
                </a:r>
                <a:r>
                  <a:rPr lang="en-US" dirty="0" err="1"/>
                  <a:t>MNm</a:t>
                </a:r>
                <a:endParaRPr lang="en-US" dirty="0"/>
              </a:p>
              <a:p>
                <a:pPr>
                  <a:buFont typeface="Wingdings" panose="05000000000000000000" pitchFamily="2" charset="2"/>
                  <a:buChar char="Ø"/>
                </a:pPr>
                <a:r>
                  <a:rPr lang="en-US" dirty="0"/>
                  <a:t>Cp_16= </a:t>
                </a:r>
                <a14:m>
                  <m:oMath xmlns:m="http://schemas.openxmlformats.org/officeDocument/2006/math">
                    <m:f>
                      <m:fPr>
                        <m:ctrlPr>
                          <a:rPr lang="en-US" i="1" dirty="0" smtClean="0">
                            <a:latin typeface="Cambria Math" panose="02040503050406030204" pitchFamily="18" charset="0"/>
                          </a:rPr>
                        </m:ctrlPr>
                      </m:fPr>
                      <m:num>
                        <m:r>
                          <m:rPr>
                            <m:nor/>
                          </m:rPr>
                          <a:rPr lang="en-US" dirty="0"/>
                          <m:t>2∗</m:t>
                        </m:r>
                        <m:r>
                          <m:rPr>
                            <m:nor/>
                          </m:rPr>
                          <a:rPr lang="en-US" i="1" dirty="0"/>
                          <m:t> </m:t>
                        </m:r>
                        <m:r>
                          <m:rPr>
                            <m:nor/>
                          </m:rPr>
                          <a:rPr lang="en-US" i="1" dirty="0"/>
                          <m:t>M</m:t>
                        </m:r>
                        <m:r>
                          <m:rPr>
                            <m:nor/>
                          </m:rPr>
                          <a:rPr lang="en-US" dirty="0"/>
                          <m:t>a</m:t>
                        </m:r>
                        <m:r>
                          <m:rPr>
                            <m:nor/>
                          </m:rPr>
                          <a:rPr lang="en-US" dirty="0"/>
                          <m:t>_</m:t>
                        </m:r>
                        <m:r>
                          <m:rPr>
                            <m:nor/>
                          </m:rPr>
                          <a:rPr lang="en-US" dirty="0"/>
                          <m:t>r</m:t>
                        </m:r>
                        <m:r>
                          <m:rPr>
                            <m:nor/>
                          </m:rPr>
                          <a:rPr lang="en-US" dirty="0"/>
                          <m:t>∗</m:t>
                        </m:r>
                        <m:r>
                          <m:rPr>
                            <m:nor/>
                          </m:rPr>
                          <a:rPr lang="el-GR" dirty="0">
                            <a:ea typeface="Cambria Math" panose="02040503050406030204" pitchFamily="18" charset="0"/>
                          </a:rPr>
                          <m:t> </m:t>
                        </m:r>
                        <m:r>
                          <m:rPr>
                            <m:sty m:val="p"/>
                          </m:rPr>
                          <a:rPr lang="el-GR" i="1">
                            <a:latin typeface="Cambria Math" panose="02040503050406030204" pitchFamily="18" charset="0"/>
                            <a:ea typeface="Cambria Math" panose="02040503050406030204" pitchFamily="18" charset="0"/>
                          </a:rPr>
                          <m:t>Ω</m:t>
                        </m:r>
                        <m:r>
                          <m:rPr>
                            <m:nor/>
                          </m:rPr>
                          <a:rPr lang="en-DE" dirty="0"/>
                          <m:t> </m:t>
                        </m:r>
                      </m:num>
                      <m:den>
                        <m:sSup>
                          <m:sSupPr>
                            <m:ctrlPr>
                              <a:rPr lang="en-US" i="1" dirty="0" smtClean="0">
                                <a:latin typeface="Cambria Math" panose="02040503050406030204" pitchFamily="18" charset="0"/>
                              </a:rPr>
                            </m:ctrlPr>
                          </m:sSupPr>
                          <m:e>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ea typeface="Cambria Math" panose="02040503050406030204" pitchFamily="18" charset="0"/>
                                  </a:rPr>
                                  <m:t>𝜊</m:t>
                                </m:r>
                              </m:sub>
                            </m:sSub>
                          </m:e>
                          <m:sup>
                            <m:r>
                              <a:rPr lang="en-US" b="0" i="1" dirty="0" smtClean="0">
                                <a:latin typeface="Cambria Math" panose="02040503050406030204" pitchFamily="18" charset="0"/>
                              </a:rPr>
                              <m:t>3</m:t>
                            </m:r>
                          </m:sup>
                        </m:sSup>
                        <m:r>
                          <a:rPr lang="en-US" b="0" i="1" dirty="0" smtClean="0">
                            <a:latin typeface="Cambria Math" panose="02040503050406030204" pitchFamily="18" charset="0"/>
                          </a:rPr>
                          <m:t> ∗</m:t>
                        </m:r>
                        <m:sSup>
                          <m:sSupPr>
                            <m:ctrlPr>
                              <a:rPr lang="en-US" b="0" i="1" dirty="0" smtClean="0">
                                <a:latin typeface="Cambria Math" panose="02040503050406030204" pitchFamily="18" charset="0"/>
                              </a:rPr>
                            </m:ctrlPr>
                          </m:sSupPr>
                          <m:e>
                            <m:r>
                              <a:rPr lang="en-US" b="0" i="1" dirty="0" smtClean="0">
                                <a:latin typeface="Cambria Math" panose="02040503050406030204" pitchFamily="18" charset="0"/>
                              </a:rPr>
                              <m:t>𝑅</m:t>
                            </m:r>
                          </m:e>
                          <m:sup>
                            <m:r>
                              <a:rPr lang="en-US" b="0" i="1" dirty="0" smtClean="0">
                                <a:latin typeface="Cambria Math" panose="02040503050406030204" pitchFamily="18" charset="0"/>
                              </a:rPr>
                              <m:t>2</m:t>
                            </m:r>
                          </m:sup>
                        </m:sSup>
                        <m:r>
                          <a:rPr lang="en-US" b="0" i="1" dirty="0" smtClean="0">
                            <a:latin typeface="Cambria Math" panose="02040503050406030204" pitchFamily="18" charset="0"/>
                          </a:rPr>
                          <m:t>∗ </m:t>
                        </m:r>
                        <m:r>
                          <a:rPr lang="en-US" b="0" i="1" dirty="0" smtClean="0">
                            <a:latin typeface="Cambria Math" panose="02040503050406030204" pitchFamily="18" charset="0"/>
                            <a:ea typeface="Cambria Math" panose="02040503050406030204" pitchFamily="18" charset="0"/>
                          </a:rPr>
                          <m:t>𝜋</m:t>
                        </m:r>
                        <m:r>
                          <a:rPr lang="en-US" b="0" i="1" dirty="0" smtClean="0">
                            <a:latin typeface="Cambria Math" panose="02040503050406030204" pitchFamily="18" charset="0"/>
                            <a:ea typeface="Cambria Math" panose="02040503050406030204" pitchFamily="18" charset="0"/>
                          </a:rPr>
                          <m:t>∗</m:t>
                        </m:r>
                        <m:r>
                          <a:rPr lang="en-US" b="0" i="1" dirty="0" smtClean="0">
                            <a:latin typeface="Cambria Math" panose="02040503050406030204" pitchFamily="18" charset="0"/>
                            <a:ea typeface="Cambria Math" panose="02040503050406030204" pitchFamily="18" charset="0"/>
                          </a:rPr>
                          <m:t>𝜌</m:t>
                        </m:r>
                      </m:den>
                    </m:f>
                    <m:r>
                      <a:rPr lang="en-US" b="0" i="1" dirty="0" smtClean="0">
                        <a:latin typeface="Cambria Math" panose="02040503050406030204" pitchFamily="18" charset="0"/>
                      </a:rPr>
                      <m:t>=0.169</m:t>
                    </m:r>
                  </m:oMath>
                </a14:m>
                <a:r>
                  <a:rPr lang="en-US" dirty="0"/>
                  <a:t>3</a:t>
                </a:r>
                <a:br>
                  <a:rPr lang="en-US" dirty="0"/>
                </a:br>
                <a:br>
                  <a:rPr lang="en-US" dirty="0"/>
                </a:br>
                <a:endParaRPr lang="en-US" dirty="0"/>
              </a:p>
              <a:p>
                <a:pPr>
                  <a:buFont typeface="Wingdings" panose="05000000000000000000" pitchFamily="2" charset="2"/>
                  <a:buChar char="Ø"/>
                </a:pPr>
                <a:r>
                  <a:rPr lang="en-US" dirty="0"/>
                  <a:t>With these values of TSR and Cp, we get pitch angle ≈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12</m:t>
                        </m:r>
                      </m:e>
                      <m:sup>
                        <m:r>
                          <a:rPr lang="en-US" b="0" i="1" smtClean="0">
                            <a:latin typeface="Cambria Math" panose="02040503050406030204" pitchFamily="18" charset="0"/>
                          </a:rPr>
                          <m:t>0</m:t>
                        </m:r>
                      </m:sup>
                    </m:sSup>
                  </m:oMath>
                </a14:m>
                <a:r>
                  <a:rPr lang="en-US" dirty="0"/>
                  <a:t> from Cp- Lambda curve</a:t>
                </a:r>
                <a:br>
                  <a:rPr lang="en-US" dirty="0"/>
                </a:br>
                <a:endParaRPr lang="en-DE" dirty="0"/>
              </a:p>
            </p:txBody>
          </p:sp>
        </mc:Choice>
        <mc:Fallback xmlns="">
          <p:sp>
            <p:nvSpPr>
              <p:cNvPr id="3" name="Content Placeholder 2">
                <a:extLst>
                  <a:ext uri="{FF2B5EF4-FFF2-40B4-BE49-F238E27FC236}">
                    <a16:creationId xmlns:a16="http://schemas.microsoft.com/office/drawing/2014/main" id="{3128F227-D90B-A80E-1CB7-3C7202E78945}"/>
                  </a:ext>
                </a:extLst>
              </p:cNvPr>
              <p:cNvSpPr>
                <a:spLocks noGrp="1" noRot="1" noChangeAspect="1" noMove="1" noResize="1" noEditPoints="1" noAdjustHandles="1" noChangeArrowheads="1" noChangeShapeType="1" noTextEdit="1"/>
              </p:cNvSpPr>
              <p:nvPr>
                <p:ph idx="1"/>
              </p:nvPr>
            </p:nvSpPr>
            <p:spPr>
              <a:xfrm>
                <a:off x="838199" y="1524000"/>
                <a:ext cx="11136087" cy="4652963"/>
              </a:xfrm>
              <a:blipFill>
                <a:blip r:embed="rId2"/>
                <a:stretch>
                  <a:fillRect l="-821" t="-3277" r="-1423"/>
                </a:stretch>
              </a:blipFill>
            </p:spPr>
            <p:txBody>
              <a:bodyPr/>
              <a:lstStyle/>
              <a:p>
                <a:r>
                  <a:rPr lang="en-DE">
                    <a:noFill/>
                  </a:rPr>
                  <a:t> </a:t>
                </a:r>
              </a:p>
            </p:txBody>
          </p:sp>
        </mc:Fallback>
      </mc:AlternateContent>
      <p:sp>
        <p:nvSpPr>
          <p:cNvPr id="4" name="Date Placeholder 3">
            <a:extLst>
              <a:ext uri="{FF2B5EF4-FFF2-40B4-BE49-F238E27FC236}">
                <a16:creationId xmlns:a16="http://schemas.microsoft.com/office/drawing/2014/main" id="{0967D2A4-958D-9600-60C1-182DD2D1CC1D}"/>
              </a:ext>
            </a:extLst>
          </p:cNvPr>
          <p:cNvSpPr>
            <a:spLocks noGrp="1"/>
          </p:cNvSpPr>
          <p:nvPr>
            <p:ph type="dt" sz="half" idx="10"/>
          </p:nvPr>
        </p:nvSpPr>
        <p:spPr/>
        <p:txBody>
          <a:bodyPr/>
          <a:lstStyle/>
          <a:p>
            <a:fld id="{0F9E8AB9-E09D-4109-82AB-43CA4FC748B6}" type="datetime1">
              <a:rPr lang="LID4096" smtClean="0"/>
              <a:t>10/12/2025</a:t>
            </a:fld>
            <a:endParaRPr lang="en-DE"/>
          </a:p>
        </p:txBody>
      </p:sp>
      <p:sp>
        <p:nvSpPr>
          <p:cNvPr id="5" name="Footer Placeholder 4">
            <a:extLst>
              <a:ext uri="{FF2B5EF4-FFF2-40B4-BE49-F238E27FC236}">
                <a16:creationId xmlns:a16="http://schemas.microsoft.com/office/drawing/2014/main" id="{C4FA21B6-4679-C54F-4E4A-6E727DDCC165}"/>
              </a:ext>
            </a:extLst>
          </p:cNvPr>
          <p:cNvSpPr>
            <a:spLocks noGrp="1"/>
          </p:cNvSpPr>
          <p:nvPr>
            <p:ph type="ftr" sz="quarter" idx="11"/>
          </p:nvPr>
        </p:nvSpPr>
        <p:spPr/>
        <p:txBody>
          <a:bodyPr/>
          <a:lstStyle/>
          <a:p>
            <a:r>
              <a:rPr lang="en-US"/>
              <a:t>Group 3: Group 3: Federico De Mita, Waqas Ahmed, Dominic Annang, Hesham Magdy, Muthu Sivamuthu  </a:t>
            </a:r>
            <a:endParaRPr lang="en-DE"/>
          </a:p>
        </p:txBody>
      </p:sp>
      <p:sp>
        <p:nvSpPr>
          <p:cNvPr id="6" name="Slide Number Placeholder 5">
            <a:extLst>
              <a:ext uri="{FF2B5EF4-FFF2-40B4-BE49-F238E27FC236}">
                <a16:creationId xmlns:a16="http://schemas.microsoft.com/office/drawing/2014/main" id="{BD46A5E8-0A63-9123-00E1-5A55C0D9FB7F}"/>
              </a:ext>
            </a:extLst>
          </p:cNvPr>
          <p:cNvSpPr>
            <a:spLocks noGrp="1"/>
          </p:cNvSpPr>
          <p:nvPr>
            <p:ph type="sldNum" sz="quarter" idx="12"/>
          </p:nvPr>
        </p:nvSpPr>
        <p:spPr/>
        <p:txBody>
          <a:bodyPr/>
          <a:lstStyle/>
          <a:p>
            <a:fld id="{F9C2340B-4B0F-4DED-BE4C-833C39BBA64E}" type="slidenum">
              <a:rPr lang="en-DE" smtClean="0"/>
              <a:t>7</a:t>
            </a:fld>
            <a:endParaRPr lang="en-DE"/>
          </a:p>
        </p:txBody>
      </p:sp>
    </p:spTree>
    <p:extLst>
      <p:ext uri="{BB962C8B-B14F-4D97-AF65-F5344CB8AC3E}">
        <p14:creationId xmlns:p14="http://schemas.microsoft.com/office/powerpoint/2010/main" val="1484490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0CE68-E617-C568-6843-97049D4F56C9}"/>
              </a:ext>
            </a:extLst>
          </p:cNvPr>
          <p:cNvSpPr>
            <a:spLocks noGrp="1"/>
          </p:cNvSpPr>
          <p:nvPr>
            <p:ph type="title"/>
          </p:nvPr>
        </p:nvSpPr>
        <p:spPr/>
        <p:txBody>
          <a:bodyPr>
            <a:normAutofit fontScale="90000"/>
          </a:bodyPr>
          <a:lstStyle/>
          <a:p>
            <a:r>
              <a:rPr lang="en-US" dirty="0"/>
              <a:t>Simulation Exercise</a:t>
            </a:r>
            <a:br>
              <a:rPr lang="en-US" dirty="0"/>
            </a:br>
            <a:r>
              <a:rPr lang="en-US" dirty="0" err="1"/>
              <a:t>Exercise</a:t>
            </a:r>
            <a:r>
              <a:rPr lang="en-US" dirty="0"/>
              <a:t> _1.3.b</a:t>
            </a:r>
            <a:br>
              <a:rPr lang="en-US" dirty="0"/>
            </a:br>
            <a:endParaRPr lang="en-DE"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3F835C2-815F-46BA-A00A-4C951AABAC73}"/>
                  </a:ext>
                </a:extLst>
              </p:cNvPr>
              <p:cNvSpPr>
                <a:spLocks noGrp="1"/>
              </p:cNvSpPr>
              <p:nvPr>
                <p:ph idx="1"/>
              </p:nvPr>
            </p:nvSpPr>
            <p:spPr/>
            <p:txBody>
              <a:bodyPr/>
              <a:lstStyle/>
              <a:p>
                <a:r>
                  <a:rPr lang="en-US" dirty="0"/>
                  <a:t>b) Adjust the file NREL5MWDefaultParameter_SLOW1DOF.m. Here, the parameter of the SLOW model should be loaded in the preprocessing step. Add the missing parameters and calculate the inertia </a:t>
                </a:r>
                <a:r>
                  <a:rPr lang="en-US" i="1" dirty="0"/>
                  <a:t>J</a:t>
                </a:r>
                <a:r>
                  <a:rPr lang="en-US" dirty="0"/>
                  <a:t>. </a:t>
                </a:r>
              </a:p>
              <a:p>
                <a:pPr marL="0" indent="0">
                  <a:buNone/>
                </a:pPr>
                <a:endParaRPr lang="en-US" dirty="0"/>
              </a:p>
              <a:p>
                <a:pPr>
                  <a:buFont typeface="Wingdings" panose="05000000000000000000" pitchFamily="2" charset="2"/>
                  <a:buChar char="Ø"/>
                </a:pPr>
                <a:r>
                  <a:rPr lang="en-US" dirty="0"/>
                  <a:t>Inertia= J =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𝐽</m:t>
                        </m:r>
                      </m:e>
                      <m:sub>
                        <m:r>
                          <a:rPr lang="en-US" b="0" i="1" smtClean="0">
                            <a:latin typeface="Cambria Math" panose="02040503050406030204" pitchFamily="18" charset="0"/>
                          </a:rPr>
                          <m:t>𝑅</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i="1" smtClean="0">
                                <a:latin typeface="Cambria Math" panose="02040503050406030204" pitchFamily="18" charset="0"/>
                              </a:rPr>
                            </m:ctrlPr>
                          </m:sSubPr>
                          <m:e>
                            <m:r>
                              <a:rPr lang="en-US" b="0" i="1" smtClean="0">
                                <a:latin typeface="Cambria Math" panose="02040503050406030204" pitchFamily="18" charset="0"/>
                              </a:rPr>
                              <m:t>𝐽</m:t>
                            </m:r>
                          </m:e>
                          <m:sub>
                            <m:r>
                              <a:rPr lang="en-US" b="0" i="1" smtClean="0">
                                <a:latin typeface="Cambria Math" panose="02040503050406030204" pitchFamily="18" charset="0"/>
                              </a:rPr>
                              <m:t>𝐺</m:t>
                            </m:r>
                          </m:sub>
                        </m:sSub>
                        <m:r>
                          <a:rPr lang="en-US" b="0" i="1" smtClean="0">
                            <a:latin typeface="Cambria Math" panose="02040503050406030204" pitchFamily="18" charset="0"/>
                          </a:rPr>
                          <m:t>∗</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𝑟</m:t>
                            </m:r>
                          </m:e>
                          <m:sub>
                            <m:r>
                              <a:rPr lang="en-US" b="0" i="1" smtClean="0">
                                <a:latin typeface="Cambria Math" panose="02040503050406030204" pitchFamily="18" charset="0"/>
                              </a:rPr>
                              <m:t>𝐺𝐵</m:t>
                            </m:r>
                          </m:sub>
                          <m:sup>
                            <m:r>
                              <a:rPr lang="en-US" b="0" i="1" smtClean="0">
                                <a:latin typeface="Cambria Math" panose="02040503050406030204" pitchFamily="18" charset="0"/>
                              </a:rPr>
                              <m:t>2</m:t>
                            </m:r>
                          </m:sup>
                        </m:sSubSup>
                      </m:e>
                    </m:d>
                    <m:r>
                      <a:rPr lang="en-US" b="0" i="1" smtClean="0">
                        <a:latin typeface="Cambria Math" panose="02040503050406030204" pitchFamily="18" charset="0"/>
                      </a:rPr>
                      <m:t>= </m:t>
                    </m:r>
                  </m:oMath>
                </a14:m>
                <a:r>
                  <a:rPr lang="en-US" dirty="0"/>
                  <a:t>43,784 kg</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𝑚</m:t>
                        </m:r>
                      </m:e>
                      <m:sup>
                        <m:r>
                          <a:rPr lang="en-US" b="0" i="1" smtClean="0">
                            <a:latin typeface="Cambria Math" panose="02040503050406030204" pitchFamily="18" charset="0"/>
                          </a:rPr>
                          <m:t>2</m:t>
                        </m:r>
                      </m:sup>
                    </m:sSup>
                  </m:oMath>
                </a14:m>
                <a:br>
                  <a:rPr lang="en-US" dirty="0"/>
                </a:br>
                <a:endParaRPr lang="en-DE" dirty="0"/>
              </a:p>
            </p:txBody>
          </p:sp>
        </mc:Choice>
        <mc:Fallback xmlns="">
          <p:sp>
            <p:nvSpPr>
              <p:cNvPr id="3" name="Content Placeholder 2">
                <a:extLst>
                  <a:ext uri="{FF2B5EF4-FFF2-40B4-BE49-F238E27FC236}">
                    <a16:creationId xmlns:a16="http://schemas.microsoft.com/office/drawing/2014/main" id="{53F835C2-815F-46BA-A00A-4C951AABAC73}"/>
                  </a:ext>
                </a:extLst>
              </p:cNvPr>
              <p:cNvSpPr>
                <a:spLocks noGrp="1" noRot="1" noChangeAspect="1" noMove="1" noResize="1" noEditPoints="1" noAdjustHandles="1" noChangeArrowheads="1" noChangeShapeType="1" noTextEdit="1"/>
              </p:cNvSpPr>
              <p:nvPr>
                <p:ph idx="1"/>
              </p:nvPr>
            </p:nvSpPr>
            <p:spPr>
              <a:blipFill>
                <a:blip r:embed="rId2"/>
                <a:stretch>
                  <a:fillRect l="-1043" t="-2381" r="-1855"/>
                </a:stretch>
              </a:blipFill>
            </p:spPr>
            <p:txBody>
              <a:bodyPr/>
              <a:lstStyle/>
              <a:p>
                <a:r>
                  <a:rPr lang="en-DE">
                    <a:noFill/>
                  </a:rPr>
                  <a:t> </a:t>
                </a:r>
              </a:p>
            </p:txBody>
          </p:sp>
        </mc:Fallback>
      </mc:AlternateContent>
      <p:sp>
        <p:nvSpPr>
          <p:cNvPr id="4" name="Date Placeholder 3">
            <a:extLst>
              <a:ext uri="{FF2B5EF4-FFF2-40B4-BE49-F238E27FC236}">
                <a16:creationId xmlns:a16="http://schemas.microsoft.com/office/drawing/2014/main" id="{D9E386CD-48FA-BFCB-B535-81F4BAED4098}"/>
              </a:ext>
            </a:extLst>
          </p:cNvPr>
          <p:cNvSpPr>
            <a:spLocks noGrp="1"/>
          </p:cNvSpPr>
          <p:nvPr>
            <p:ph type="dt" sz="half" idx="10"/>
          </p:nvPr>
        </p:nvSpPr>
        <p:spPr/>
        <p:txBody>
          <a:bodyPr/>
          <a:lstStyle/>
          <a:p>
            <a:fld id="{4C315880-AEDC-4D4D-A3D2-260572B69FC9}" type="datetime1">
              <a:rPr lang="LID4096" smtClean="0"/>
              <a:t>10/12/2025</a:t>
            </a:fld>
            <a:endParaRPr lang="en-DE"/>
          </a:p>
        </p:txBody>
      </p:sp>
      <p:sp>
        <p:nvSpPr>
          <p:cNvPr id="5" name="Footer Placeholder 4">
            <a:extLst>
              <a:ext uri="{FF2B5EF4-FFF2-40B4-BE49-F238E27FC236}">
                <a16:creationId xmlns:a16="http://schemas.microsoft.com/office/drawing/2014/main" id="{1904CBE8-97C3-7791-273E-BE5252FA5EE1}"/>
              </a:ext>
            </a:extLst>
          </p:cNvPr>
          <p:cNvSpPr>
            <a:spLocks noGrp="1"/>
          </p:cNvSpPr>
          <p:nvPr>
            <p:ph type="ftr" sz="quarter" idx="11"/>
          </p:nvPr>
        </p:nvSpPr>
        <p:spPr/>
        <p:txBody>
          <a:bodyPr/>
          <a:lstStyle/>
          <a:p>
            <a:r>
              <a:rPr lang="en-US"/>
              <a:t>Group 3: Group 3: Federico De Mita, Waqas Ahmed, Dominic Annang, Hesham Magdy, Muthu Sivamuthu  </a:t>
            </a:r>
            <a:endParaRPr lang="en-DE"/>
          </a:p>
        </p:txBody>
      </p:sp>
      <p:sp>
        <p:nvSpPr>
          <p:cNvPr id="6" name="Slide Number Placeholder 5">
            <a:extLst>
              <a:ext uri="{FF2B5EF4-FFF2-40B4-BE49-F238E27FC236}">
                <a16:creationId xmlns:a16="http://schemas.microsoft.com/office/drawing/2014/main" id="{CC56CA88-04FC-6EA0-E9FA-68F1E3B698AA}"/>
              </a:ext>
            </a:extLst>
          </p:cNvPr>
          <p:cNvSpPr>
            <a:spLocks noGrp="1"/>
          </p:cNvSpPr>
          <p:nvPr>
            <p:ph type="sldNum" sz="quarter" idx="12"/>
          </p:nvPr>
        </p:nvSpPr>
        <p:spPr/>
        <p:txBody>
          <a:bodyPr/>
          <a:lstStyle/>
          <a:p>
            <a:fld id="{F9C2340B-4B0F-4DED-BE4C-833C39BBA64E}" type="slidenum">
              <a:rPr lang="en-DE" smtClean="0"/>
              <a:t>8</a:t>
            </a:fld>
            <a:endParaRPr lang="en-DE"/>
          </a:p>
        </p:txBody>
      </p:sp>
    </p:spTree>
    <p:extLst>
      <p:ext uri="{BB962C8B-B14F-4D97-AF65-F5344CB8AC3E}">
        <p14:creationId xmlns:p14="http://schemas.microsoft.com/office/powerpoint/2010/main" val="40732929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A4BA923D-85A0-EEE5-C608-EF32B567863D}"/>
              </a:ext>
            </a:extLst>
          </p:cNvPr>
          <p:cNvSpPr>
            <a:spLocks noGrp="1"/>
          </p:cNvSpPr>
          <p:nvPr>
            <p:ph type="title"/>
          </p:nvPr>
        </p:nvSpPr>
        <p:spPr>
          <a:xfrm>
            <a:off x="202131" y="365125"/>
            <a:ext cx="11151669" cy="1325563"/>
          </a:xfrm>
        </p:spPr>
        <p:txBody>
          <a:bodyPr/>
          <a:lstStyle/>
          <a:p>
            <a:r>
              <a:rPr lang="en-US" dirty="0"/>
              <a:t>Parameter Adjustment</a:t>
            </a:r>
          </a:p>
        </p:txBody>
      </p:sp>
      <p:pic>
        <p:nvPicPr>
          <p:cNvPr id="12" name="Picture 11">
            <a:extLst>
              <a:ext uri="{FF2B5EF4-FFF2-40B4-BE49-F238E27FC236}">
                <a16:creationId xmlns:a16="http://schemas.microsoft.com/office/drawing/2014/main" id="{B1C10CFB-03F1-125B-6E6A-38F2CC6B48DA}"/>
              </a:ext>
            </a:extLst>
          </p:cNvPr>
          <p:cNvPicPr>
            <a:picLocks noChangeAspect="1"/>
          </p:cNvPicPr>
          <p:nvPr/>
        </p:nvPicPr>
        <p:blipFill>
          <a:blip r:embed="rId2"/>
          <a:srcRect t="1879"/>
          <a:stretch>
            <a:fillRect/>
          </a:stretch>
        </p:blipFill>
        <p:spPr>
          <a:xfrm>
            <a:off x="37983" y="2069433"/>
            <a:ext cx="11801091" cy="3763290"/>
          </a:xfrm>
          <a:prstGeom prst="rect">
            <a:avLst/>
          </a:prstGeom>
          <a:noFill/>
        </p:spPr>
      </p:pic>
      <p:sp>
        <p:nvSpPr>
          <p:cNvPr id="4" name="Date Placeholder 3">
            <a:extLst>
              <a:ext uri="{FF2B5EF4-FFF2-40B4-BE49-F238E27FC236}">
                <a16:creationId xmlns:a16="http://schemas.microsoft.com/office/drawing/2014/main" id="{9B1471D4-CD58-D02D-160A-E07A1B8B3F45}"/>
              </a:ext>
            </a:extLst>
          </p:cNvPr>
          <p:cNvSpPr>
            <a:spLocks noGrp="1"/>
          </p:cNvSpPr>
          <p:nvPr>
            <p:ph type="dt" sz="half" idx="10"/>
          </p:nvPr>
        </p:nvSpPr>
        <p:spPr>
          <a:xfrm>
            <a:off x="838200" y="6356350"/>
            <a:ext cx="2743200" cy="365125"/>
          </a:xfrm>
        </p:spPr>
        <p:txBody>
          <a:bodyPr anchor="ctr">
            <a:normAutofit/>
          </a:bodyPr>
          <a:lstStyle/>
          <a:p>
            <a:pPr>
              <a:spcAft>
                <a:spcPts val="600"/>
              </a:spcAft>
            </a:pPr>
            <a:fld id="{3FE9AB4E-B251-4580-A34C-6F09C8FB4992}" type="datetime1">
              <a:rPr lang="LID4096" smtClean="0"/>
              <a:t>10/12/2025</a:t>
            </a:fld>
            <a:endParaRPr lang="en-DE"/>
          </a:p>
        </p:txBody>
      </p:sp>
      <p:sp>
        <p:nvSpPr>
          <p:cNvPr id="5" name="Footer Placeholder 4">
            <a:extLst>
              <a:ext uri="{FF2B5EF4-FFF2-40B4-BE49-F238E27FC236}">
                <a16:creationId xmlns:a16="http://schemas.microsoft.com/office/drawing/2014/main" id="{4F15DE9E-0480-BC3C-D15C-2B2C8EF40E8F}"/>
              </a:ext>
            </a:extLst>
          </p:cNvPr>
          <p:cNvSpPr>
            <a:spLocks noGrp="1"/>
          </p:cNvSpPr>
          <p:nvPr>
            <p:ph type="ftr" sz="quarter" idx="11"/>
          </p:nvPr>
        </p:nvSpPr>
        <p:spPr>
          <a:xfrm>
            <a:off x="4038600" y="6356350"/>
            <a:ext cx="4114800" cy="365125"/>
          </a:xfrm>
        </p:spPr>
        <p:txBody>
          <a:bodyPr anchor="ctr">
            <a:normAutofit fontScale="92500" lnSpcReduction="20000"/>
          </a:bodyPr>
          <a:lstStyle/>
          <a:p>
            <a:pPr>
              <a:spcAft>
                <a:spcPts val="600"/>
              </a:spcAft>
            </a:pPr>
            <a:r>
              <a:rPr lang="en-US"/>
              <a:t>Group 3: Group 3: Federico De Mita, Waqas Ahmed, Dominic Annang, Hesham Magdy, Muthu Sivamuthu  </a:t>
            </a:r>
            <a:endParaRPr lang="en-DE"/>
          </a:p>
        </p:txBody>
      </p:sp>
      <p:sp>
        <p:nvSpPr>
          <p:cNvPr id="6" name="Slide Number Placeholder 5">
            <a:extLst>
              <a:ext uri="{FF2B5EF4-FFF2-40B4-BE49-F238E27FC236}">
                <a16:creationId xmlns:a16="http://schemas.microsoft.com/office/drawing/2014/main" id="{EFDEA4B0-AE93-7395-FCF2-85E07DD23F2D}"/>
              </a:ext>
            </a:extLst>
          </p:cNvPr>
          <p:cNvSpPr>
            <a:spLocks noGrp="1"/>
          </p:cNvSpPr>
          <p:nvPr>
            <p:ph type="sldNum" sz="quarter" idx="12"/>
          </p:nvPr>
        </p:nvSpPr>
        <p:spPr>
          <a:xfrm>
            <a:off x="8610600" y="6356350"/>
            <a:ext cx="2743200" cy="365125"/>
          </a:xfrm>
        </p:spPr>
        <p:txBody>
          <a:bodyPr anchor="ctr">
            <a:normAutofit/>
          </a:bodyPr>
          <a:lstStyle/>
          <a:p>
            <a:pPr>
              <a:spcAft>
                <a:spcPts val="600"/>
              </a:spcAft>
            </a:pPr>
            <a:fld id="{F9C2340B-4B0F-4DED-BE4C-833C39BBA64E}" type="slidenum">
              <a:rPr lang="en-DE" smtClean="0"/>
              <a:pPr>
                <a:spcAft>
                  <a:spcPts val="600"/>
                </a:spcAft>
              </a:pPr>
              <a:t>9</a:t>
            </a:fld>
            <a:endParaRPr lang="en-DE"/>
          </a:p>
        </p:txBody>
      </p:sp>
    </p:spTree>
    <p:extLst>
      <p:ext uri="{BB962C8B-B14F-4D97-AF65-F5344CB8AC3E}">
        <p14:creationId xmlns:p14="http://schemas.microsoft.com/office/powerpoint/2010/main" val="4237656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74805-0309-01EB-C0D3-96B1DFA12E6D}"/>
              </a:ext>
            </a:extLst>
          </p:cNvPr>
          <p:cNvSpPr>
            <a:spLocks noGrp="1"/>
          </p:cNvSpPr>
          <p:nvPr>
            <p:ph type="title"/>
          </p:nvPr>
        </p:nvSpPr>
        <p:spPr/>
        <p:txBody>
          <a:bodyPr/>
          <a:lstStyle/>
          <a:p>
            <a:r>
              <a:rPr lang="en-US" dirty="0"/>
              <a:t>Simulation Exercise</a:t>
            </a:r>
            <a:br>
              <a:rPr lang="en-US" dirty="0"/>
            </a:br>
            <a:r>
              <a:rPr lang="en-US" dirty="0"/>
              <a:t>Exercise _1.3.c</a:t>
            </a:r>
            <a:endParaRPr lang="en-DE" dirty="0"/>
          </a:p>
        </p:txBody>
      </p:sp>
      <p:sp>
        <p:nvSpPr>
          <p:cNvPr id="3" name="Content Placeholder 2">
            <a:extLst>
              <a:ext uri="{FF2B5EF4-FFF2-40B4-BE49-F238E27FC236}">
                <a16:creationId xmlns:a16="http://schemas.microsoft.com/office/drawing/2014/main" id="{326146EE-2AEF-D06F-55A7-584C3E9CD8DE}"/>
              </a:ext>
            </a:extLst>
          </p:cNvPr>
          <p:cNvSpPr>
            <a:spLocks noGrp="1"/>
          </p:cNvSpPr>
          <p:nvPr>
            <p:ph idx="1"/>
          </p:nvPr>
        </p:nvSpPr>
        <p:spPr/>
        <p:txBody>
          <a:bodyPr/>
          <a:lstStyle/>
          <a:p>
            <a:r>
              <a:rPr lang="en-US" dirty="0"/>
              <a:t>c) Adjust the file Exercise01.m by finding useful values for pitch and torque to keep the turbine at rated rotor speed and rated electrical power. Add the calculation of the electrical power in the postprocessing section. </a:t>
            </a:r>
            <a:br>
              <a:rPr lang="en-US" dirty="0"/>
            </a:br>
            <a:br>
              <a:rPr lang="en-US" dirty="0"/>
            </a:br>
            <a:endParaRPr lang="en-US" dirty="0"/>
          </a:p>
          <a:p>
            <a:r>
              <a:rPr lang="en-US" dirty="0"/>
              <a:t>Pitch Angle = </a:t>
            </a:r>
            <a:r>
              <a:rPr lang="en-DE" dirty="0"/>
              <a:t>12.05745</a:t>
            </a:r>
            <a:r>
              <a:rPr lang="en-US" dirty="0"/>
              <a:t> </a:t>
            </a:r>
            <a:endParaRPr lang="en-DE" dirty="0"/>
          </a:p>
          <a:p>
            <a:endParaRPr lang="en-DE" dirty="0"/>
          </a:p>
        </p:txBody>
      </p:sp>
      <p:sp>
        <p:nvSpPr>
          <p:cNvPr id="4" name="Date Placeholder 3">
            <a:extLst>
              <a:ext uri="{FF2B5EF4-FFF2-40B4-BE49-F238E27FC236}">
                <a16:creationId xmlns:a16="http://schemas.microsoft.com/office/drawing/2014/main" id="{86A04343-C212-48A2-57B2-051CB5D2EB97}"/>
              </a:ext>
            </a:extLst>
          </p:cNvPr>
          <p:cNvSpPr>
            <a:spLocks noGrp="1"/>
          </p:cNvSpPr>
          <p:nvPr>
            <p:ph type="dt" sz="half" idx="10"/>
          </p:nvPr>
        </p:nvSpPr>
        <p:spPr/>
        <p:txBody>
          <a:bodyPr/>
          <a:lstStyle/>
          <a:p>
            <a:fld id="{3F3A7F08-FC04-4FCB-BB84-82D434BA9654}" type="datetime1">
              <a:rPr lang="LID4096" smtClean="0"/>
              <a:t>10/12/2025</a:t>
            </a:fld>
            <a:endParaRPr lang="en-DE"/>
          </a:p>
        </p:txBody>
      </p:sp>
      <p:sp>
        <p:nvSpPr>
          <p:cNvPr id="5" name="Footer Placeholder 4">
            <a:extLst>
              <a:ext uri="{FF2B5EF4-FFF2-40B4-BE49-F238E27FC236}">
                <a16:creationId xmlns:a16="http://schemas.microsoft.com/office/drawing/2014/main" id="{3ED65C5A-F67C-72DD-18E1-355652DD6BD1}"/>
              </a:ext>
            </a:extLst>
          </p:cNvPr>
          <p:cNvSpPr>
            <a:spLocks noGrp="1"/>
          </p:cNvSpPr>
          <p:nvPr>
            <p:ph type="ftr" sz="quarter" idx="11"/>
          </p:nvPr>
        </p:nvSpPr>
        <p:spPr/>
        <p:txBody>
          <a:bodyPr/>
          <a:lstStyle/>
          <a:p>
            <a:r>
              <a:rPr lang="en-US"/>
              <a:t>Group 3: Group 3: Federico De Mita, Waqas Ahmed, Dominic Annang, Hesham Magdy, Muthu Sivamuthu  </a:t>
            </a:r>
            <a:endParaRPr lang="en-DE"/>
          </a:p>
        </p:txBody>
      </p:sp>
      <p:sp>
        <p:nvSpPr>
          <p:cNvPr id="6" name="Slide Number Placeholder 5">
            <a:extLst>
              <a:ext uri="{FF2B5EF4-FFF2-40B4-BE49-F238E27FC236}">
                <a16:creationId xmlns:a16="http://schemas.microsoft.com/office/drawing/2014/main" id="{1E9AEF00-4B39-DF6B-EEDA-B380D3290A7D}"/>
              </a:ext>
            </a:extLst>
          </p:cNvPr>
          <p:cNvSpPr>
            <a:spLocks noGrp="1"/>
          </p:cNvSpPr>
          <p:nvPr>
            <p:ph type="sldNum" sz="quarter" idx="12"/>
          </p:nvPr>
        </p:nvSpPr>
        <p:spPr/>
        <p:txBody>
          <a:bodyPr/>
          <a:lstStyle/>
          <a:p>
            <a:fld id="{F9C2340B-4B0F-4DED-BE4C-833C39BBA64E}" type="slidenum">
              <a:rPr lang="en-DE" smtClean="0"/>
              <a:t>10</a:t>
            </a:fld>
            <a:endParaRPr lang="en-DE"/>
          </a:p>
        </p:txBody>
      </p:sp>
    </p:spTree>
    <p:extLst>
      <p:ext uri="{BB962C8B-B14F-4D97-AF65-F5344CB8AC3E}">
        <p14:creationId xmlns:p14="http://schemas.microsoft.com/office/powerpoint/2010/main" val="2988895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7314C-4A36-7B4F-3F29-1D3B28A3A507}"/>
              </a:ext>
            </a:extLst>
          </p:cNvPr>
          <p:cNvSpPr>
            <a:spLocks noGrp="1"/>
          </p:cNvSpPr>
          <p:nvPr>
            <p:ph type="title"/>
          </p:nvPr>
        </p:nvSpPr>
        <p:spPr/>
        <p:txBody>
          <a:bodyPr/>
          <a:lstStyle/>
          <a:p>
            <a:r>
              <a:rPr lang="en-US" dirty="0"/>
              <a:t>Simulation Exercise</a:t>
            </a:r>
            <a:endParaRPr lang="en-DE" dirty="0"/>
          </a:p>
        </p:txBody>
      </p:sp>
      <p:pic>
        <p:nvPicPr>
          <p:cNvPr id="8" name="Content Placeholder 7">
            <a:extLst>
              <a:ext uri="{FF2B5EF4-FFF2-40B4-BE49-F238E27FC236}">
                <a16:creationId xmlns:a16="http://schemas.microsoft.com/office/drawing/2014/main" id="{B9914DC2-E631-05AD-F79D-986F13220B1C}"/>
              </a:ext>
            </a:extLst>
          </p:cNvPr>
          <p:cNvPicPr>
            <a:picLocks noGrp="1" noChangeAspect="1"/>
          </p:cNvPicPr>
          <p:nvPr>
            <p:ph idx="1"/>
          </p:nvPr>
        </p:nvPicPr>
        <p:blipFill>
          <a:blip r:embed="rId2"/>
          <a:stretch>
            <a:fillRect/>
          </a:stretch>
        </p:blipFill>
        <p:spPr>
          <a:xfrm>
            <a:off x="1463041" y="1851331"/>
            <a:ext cx="8122464" cy="3769296"/>
          </a:xfrm>
          <a:prstGeom prst="rect">
            <a:avLst/>
          </a:prstGeom>
        </p:spPr>
      </p:pic>
      <p:sp>
        <p:nvSpPr>
          <p:cNvPr id="4" name="Date Placeholder 3">
            <a:extLst>
              <a:ext uri="{FF2B5EF4-FFF2-40B4-BE49-F238E27FC236}">
                <a16:creationId xmlns:a16="http://schemas.microsoft.com/office/drawing/2014/main" id="{133E208A-ED7E-83FE-3314-A4FA07AA4B0E}"/>
              </a:ext>
            </a:extLst>
          </p:cNvPr>
          <p:cNvSpPr>
            <a:spLocks noGrp="1"/>
          </p:cNvSpPr>
          <p:nvPr>
            <p:ph type="dt" sz="half" idx="10"/>
          </p:nvPr>
        </p:nvSpPr>
        <p:spPr/>
        <p:txBody>
          <a:bodyPr/>
          <a:lstStyle/>
          <a:p>
            <a:fld id="{10138DD8-09D1-4D34-B769-4537DEB291B8}" type="datetime1">
              <a:rPr lang="LID4096" smtClean="0"/>
              <a:t>10/12/2025</a:t>
            </a:fld>
            <a:endParaRPr lang="en-DE"/>
          </a:p>
        </p:txBody>
      </p:sp>
      <p:sp>
        <p:nvSpPr>
          <p:cNvPr id="5" name="Footer Placeholder 4">
            <a:extLst>
              <a:ext uri="{FF2B5EF4-FFF2-40B4-BE49-F238E27FC236}">
                <a16:creationId xmlns:a16="http://schemas.microsoft.com/office/drawing/2014/main" id="{6E038155-5856-E01D-97DA-87985F178CD6}"/>
              </a:ext>
            </a:extLst>
          </p:cNvPr>
          <p:cNvSpPr>
            <a:spLocks noGrp="1"/>
          </p:cNvSpPr>
          <p:nvPr>
            <p:ph type="ftr" sz="quarter" idx="11"/>
          </p:nvPr>
        </p:nvSpPr>
        <p:spPr/>
        <p:txBody>
          <a:bodyPr/>
          <a:lstStyle/>
          <a:p>
            <a:r>
              <a:rPr lang="en-US"/>
              <a:t>Group 3: Group 3: Federico De Mita, Waqas Ahmed, Dominic Annang, Hesham Magdy, Muthu Sivamuthu  </a:t>
            </a:r>
            <a:endParaRPr lang="en-DE"/>
          </a:p>
        </p:txBody>
      </p:sp>
      <p:sp>
        <p:nvSpPr>
          <p:cNvPr id="6" name="Slide Number Placeholder 5">
            <a:extLst>
              <a:ext uri="{FF2B5EF4-FFF2-40B4-BE49-F238E27FC236}">
                <a16:creationId xmlns:a16="http://schemas.microsoft.com/office/drawing/2014/main" id="{1FD00F4F-45B8-8253-A85F-302A729B60D2}"/>
              </a:ext>
            </a:extLst>
          </p:cNvPr>
          <p:cNvSpPr>
            <a:spLocks noGrp="1"/>
          </p:cNvSpPr>
          <p:nvPr>
            <p:ph type="sldNum" sz="quarter" idx="12"/>
          </p:nvPr>
        </p:nvSpPr>
        <p:spPr/>
        <p:txBody>
          <a:bodyPr/>
          <a:lstStyle/>
          <a:p>
            <a:fld id="{F9C2340B-4B0F-4DED-BE4C-833C39BBA64E}" type="slidenum">
              <a:rPr lang="en-DE" smtClean="0"/>
              <a:t>11</a:t>
            </a:fld>
            <a:endParaRPr lang="en-DE"/>
          </a:p>
        </p:txBody>
      </p:sp>
    </p:spTree>
    <p:extLst>
      <p:ext uri="{BB962C8B-B14F-4D97-AF65-F5344CB8AC3E}">
        <p14:creationId xmlns:p14="http://schemas.microsoft.com/office/powerpoint/2010/main" val="2975513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3D945-F293-3871-1C13-EEF2BFB440E9}"/>
              </a:ext>
            </a:extLst>
          </p:cNvPr>
          <p:cNvSpPr>
            <a:spLocks noGrp="1"/>
          </p:cNvSpPr>
          <p:nvPr>
            <p:ph type="title"/>
          </p:nvPr>
        </p:nvSpPr>
        <p:spPr/>
        <p:txBody>
          <a:bodyPr/>
          <a:lstStyle/>
          <a:p>
            <a:r>
              <a:rPr lang="en-US" dirty="0"/>
              <a:t>Simulation Exercise</a:t>
            </a:r>
            <a:endParaRPr lang="en-DE" dirty="0"/>
          </a:p>
        </p:txBody>
      </p:sp>
      <p:sp>
        <p:nvSpPr>
          <p:cNvPr id="4" name="Date Placeholder 3">
            <a:extLst>
              <a:ext uri="{FF2B5EF4-FFF2-40B4-BE49-F238E27FC236}">
                <a16:creationId xmlns:a16="http://schemas.microsoft.com/office/drawing/2014/main" id="{68A9C0C3-B4CE-B42E-5A57-2A2E65F8B45C}"/>
              </a:ext>
            </a:extLst>
          </p:cNvPr>
          <p:cNvSpPr>
            <a:spLocks noGrp="1"/>
          </p:cNvSpPr>
          <p:nvPr>
            <p:ph type="dt" sz="half" idx="10"/>
          </p:nvPr>
        </p:nvSpPr>
        <p:spPr/>
        <p:txBody>
          <a:bodyPr/>
          <a:lstStyle/>
          <a:p>
            <a:fld id="{8630E2C0-7867-496E-8BB2-00F48137AEF6}" type="datetime1">
              <a:rPr lang="LID4096" smtClean="0"/>
              <a:t>10/12/2025</a:t>
            </a:fld>
            <a:endParaRPr lang="en-DE"/>
          </a:p>
        </p:txBody>
      </p:sp>
      <p:sp>
        <p:nvSpPr>
          <p:cNvPr id="5" name="Footer Placeholder 4">
            <a:extLst>
              <a:ext uri="{FF2B5EF4-FFF2-40B4-BE49-F238E27FC236}">
                <a16:creationId xmlns:a16="http://schemas.microsoft.com/office/drawing/2014/main" id="{35E06300-E2FB-EA4C-FDB7-856C2AC750DD}"/>
              </a:ext>
            </a:extLst>
          </p:cNvPr>
          <p:cNvSpPr>
            <a:spLocks noGrp="1"/>
          </p:cNvSpPr>
          <p:nvPr>
            <p:ph type="ftr" sz="quarter" idx="11"/>
          </p:nvPr>
        </p:nvSpPr>
        <p:spPr/>
        <p:txBody>
          <a:bodyPr/>
          <a:lstStyle/>
          <a:p>
            <a:r>
              <a:rPr lang="en-US"/>
              <a:t>Group 3: Group 3: Federico De Mita, Waqas Ahmed, Dominic Annang, Hesham Magdy, Muthu Sivamuthu  </a:t>
            </a:r>
            <a:endParaRPr lang="en-DE"/>
          </a:p>
        </p:txBody>
      </p:sp>
      <p:sp>
        <p:nvSpPr>
          <p:cNvPr id="6" name="Slide Number Placeholder 5">
            <a:extLst>
              <a:ext uri="{FF2B5EF4-FFF2-40B4-BE49-F238E27FC236}">
                <a16:creationId xmlns:a16="http://schemas.microsoft.com/office/drawing/2014/main" id="{3C78CEE9-8604-6159-493B-FCA539550D44}"/>
              </a:ext>
            </a:extLst>
          </p:cNvPr>
          <p:cNvSpPr>
            <a:spLocks noGrp="1"/>
          </p:cNvSpPr>
          <p:nvPr>
            <p:ph type="sldNum" sz="quarter" idx="12"/>
          </p:nvPr>
        </p:nvSpPr>
        <p:spPr/>
        <p:txBody>
          <a:bodyPr/>
          <a:lstStyle/>
          <a:p>
            <a:fld id="{F9C2340B-4B0F-4DED-BE4C-833C39BBA64E}" type="slidenum">
              <a:rPr lang="en-DE" smtClean="0"/>
              <a:t>12</a:t>
            </a:fld>
            <a:endParaRPr lang="en-DE"/>
          </a:p>
        </p:txBody>
      </p:sp>
      <p:pic>
        <p:nvPicPr>
          <p:cNvPr id="12" name="Content Placeholder 11">
            <a:extLst>
              <a:ext uri="{FF2B5EF4-FFF2-40B4-BE49-F238E27FC236}">
                <a16:creationId xmlns:a16="http://schemas.microsoft.com/office/drawing/2014/main" id="{306D8191-6E0E-D00B-732A-5DC802C02E13}"/>
              </a:ext>
            </a:extLst>
          </p:cNvPr>
          <p:cNvPicPr>
            <a:picLocks noGrp="1" noChangeAspect="1"/>
          </p:cNvPicPr>
          <p:nvPr>
            <p:ph idx="1"/>
          </p:nvPr>
        </p:nvPicPr>
        <p:blipFill>
          <a:blip r:embed="rId2"/>
          <a:stretch>
            <a:fillRect/>
          </a:stretch>
        </p:blipFill>
        <p:spPr>
          <a:xfrm>
            <a:off x="734602" y="3075801"/>
            <a:ext cx="9512769" cy="1119149"/>
          </a:xfrm>
          <a:prstGeom prst="rect">
            <a:avLst/>
          </a:prstGeom>
        </p:spPr>
      </p:pic>
    </p:spTree>
    <p:extLst>
      <p:ext uri="{BB962C8B-B14F-4D97-AF65-F5344CB8AC3E}">
        <p14:creationId xmlns:p14="http://schemas.microsoft.com/office/powerpoint/2010/main" val="40153561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3448F-3AB1-66E2-700D-B91847F180E5}"/>
              </a:ext>
            </a:extLst>
          </p:cNvPr>
          <p:cNvSpPr>
            <a:spLocks noGrp="1"/>
          </p:cNvSpPr>
          <p:nvPr>
            <p:ph type="title"/>
          </p:nvPr>
        </p:nvSpPr>
        <p:spPr/>
        <p:txBody>
          <a:bodyPr/>
          <a:lstStyle/>
          <a:p>
            <a:r>
              <a:rPr lang="en-US" dirty="0"/>
              <a:t>Simulation Exercise</a:t>
            </a:r>
            <a:endParaRPr lang="en-DE" dirty="0"/>
          </a:p>
        </p:txBody>
      </p:sp>
      <p:sp>
        <p:nvSpPr>
          <p:cNvPr id="3" name="Content Placeholder 2">
            <a:extLst>
              <a:ext uri="{FF2B5EF4-FFF2-40B4-BE49-F238E27FC236}">
                <a16:creationId xmlns:a16="http://schemas.microsoft.com/office/drawing/2014/main" id="{B6C2BDAC-DB50-9DE0-ED0C-EAB7AC4F2D67}"/>
              </a:ext>
            </a:extLst>
          </p:cNvPr>
          <p:cNvSpPr>
            <a:spLocks noGrp="1"/>
          </p:cNvSpPr>
          <p:nvPr>
            <p:ph idx="1"/>
          </p:nvPr>
        </p:nvSpPr>
        <p:spPr/>
        <p:txBody>
          <a:bodyPr/>
          <a:lstStyle/>
          <a:p>
            <a:endParaRPr lang="en-DE"/>
          </a:p>
        </p:txBody>
      </p:sp>
      <p:sp>
        <p:nvSpPr>
          <p:cNvPr id="4" name="Date Placeholder 3">
            <a:extLst>
              <a:ext uri="{FF2B5EF4-FFF2-40B4-BE49-F238E27FC236}">
                <a16:creationId xmlns:a16="http://schemas.microsoft.com/office/drawing/2014/main" id="{B9A662FA-BDFB-FCA9-4B5F-FED541ECD82B}"/>
              </a:ext>
            </a:extLst>
          </p:cNvPr>
          <p:cNvSpPr>
            <a:spLocks noGrp="1"/>
          </p:cNvSpPr>
          <p:nvPr>
            <p:ph type="dt" sz="half" idx="10"/>
          </p:nvPr>
        </p:nvSpPr>
        <p:spPr/>
        <p:txBody>
          <a:bodyPr/>
          <a:lstStyle/>
          <a:p>
            <a:fld id="{8B8653ED-7A11-43C8-809A-2B31045A65A2}" type="datetime1">
              <a:rPr lang="LID4096" smtClean="0"/>
              <a:t>10/12/2025</a:t>
            </a:fld>
            <a:endParaRPr lang="en-DE"/>
          </a:p>
        </p:txBody>
      </p:sp>
      <p:sp>
        <p:nvSpPr>
          <p:cNvPr id="5" name="Footer Placeholder 4">
            <a:extLst>
              <a:ext uri="{FF2B5EF4-FFF2-40B4-BE49-F238E27FC236}">
                <a16:creationId xmlns:a16="http://schemas.microsoft.com/office/drawing/2014/main" id="{46D79BED-8D36-CCC4-AE14-C8D8AEF92095}"/>
              </a:ext>
            </a:extLst>
          </p:cNvPr>
          <p:cNvSpPr>
            <a:spLocks noGrp="1"/>
          </p:cNvSpPr>
          <p:nvPr>
            <p:ph type="ftr" sz="quarter" idx="11"/>
          </p:nvPr>
        </p:nvSpPr>
        <p:spPr/>
        <p:txBody>
          <a:bodyPr/>
          <a:lstStyle/>
          <a:p>
            <a:r>
              <a:rPr lang="en-US"/>
              <a:t>Group 3: Group 3: Federico De Mita, Waqas Ahmed, Dominic Annang, Hesham Magdy, Muthu Sivamuthu  </a:t>
            </a:r>
            <a:endParaRPr lang="en-DE"/>
          </a:p>
        </p:txBody>
      </p:sp>
      <p:sp>
        <p:nvSpPr>
          <p:cNvPr id="6" name="Slide Number Placeholder 5">
            <a:extLst>
              <a:ext uri="{FF2B5EF4-FFF2-40B4-BE49-F238E27FC236}">
                <a16:creationId xmlns:a16="http://schemas.microsoft.com/office/drawing/2014/main" id="{F83FE7A1-FC32-7FD5-09E4-22F36535BFAF}"/>
              </a:ext>
            </a:extLst>
          </p:cNvPr>
          <p:cNvSpPr>
            <a:spLocks noGrp="1"/>
          </p:cNvSpPr>
          <p:nvPr>
            <p:ph type="sldNum" sz="quarter" idx="12"/>
          </p:nvPr>
        </p:nvSpPr>
        <p:spPr/>
        <p:txBody>
          <a:bodyPr/>
          <a:lstStyle/>
          <a:p>
            <a:fld id="{F9C2340B-4B0F-4DED-BE4C-833C39BBA64E}" type="slidenum">
              <a:rPr lang="en-DE" smtClean="0"/>
              <a:t>13</a:t>
            </a:fld>
            <a:endParaRPr lang="en-DE"/>
          </a:p>
        </p:txBody>
      </p:sp>
      <p:pic>
        <p:nvPicPr>
          <p:cNvPr id="8" name="Picture 7">
            <a:extLst>
              <a:ext uri="{FF2B5EF4-FFF2-40B4-BE49-F238E27FC236}">
                <a16:creationId xmlns:a16="http://schemas.microsoft.com/office/drawing/2014/main" id="{FAC64A1C-F401-E7DD-C1D1-81339D7D9424}"/>
              </a:ext>
            </a:extLst>
          </p:cNvPr>
          <p:cNvPicPr>
            <a:picLocks noChangeAspect="1"/>
          </p:cNvPicPr>
          <p:nvPr/>
        </p:nvPicPr>
        <p:blipFill>
          <a:blip r:embed="rId2"/>
          <a:stretch>
            <a:fillRect/>
          </a:stretch>
        </p:blipFill>
        <p:spPr>
          <a:xfrm>
            <a:off x="602697" y="1646238"/>
            <a:ext cx="10751103" cy="4530725"/>
          </a:xfrm>
          <a:prstGeom prst="rect">
            <a:avLst/>
          </a:prstGeom>
        </p:spPr>
      </p:pic>
    </p:spTree>
    <p:extLst>
      <p:ext uri="{BB962C8B-B14F-4D97-AF65-F5344CB8AC3E}">
        <p14:creationId xmlns:p14="http://schemas.microsoft.com/office/powerpoint/2010/main" val="27880908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D63C2-45AE-E971-E66A-807ADF618811}"/>
              </a:ext>
            </a:extLst>
          </p:cNvPr>
          <p:cNvSpPr>
            <a:spLocks noGrp="1"/>
          </p:cNvSpPr>
          <p:nvPr>
            <p:ph type="title"/>
          </p:nvPr>
        </p:nvSpPr>
        <p:spPr/>
        <p:txBody>
          <a:bodyPr/>
          <a:lstStyle/>
          <a:p>
            <a:r>
              <a:rPr lang="en-US" dirty="0"/>
              <a:t>Simulation Exercise</a:t>
            </a:r>
            <a:br>
              <a:rPr lang="en-US" dirty="0"/>
            </a:br>
            <a:r>
              <a:rPr lang="en-US" dirty="0" err="1"/>
              <a:t>Exercise</a:t>
            </a:r>
            <a:r>
              <a:rPr lang="en-US" dirty="0"/>
              <a:t> _1.3.d</a:t>
            </a:r>
            <a:endParaRPr lang="en-DE" dirty="0"/>
          </a:p>
        </p:txBody>
      </p:sp>
      <p:sp>
        <p:nvSpPr>
          <p:cNvPr id="3" name="Content Placeholder 2">
            <a:extLst>
              <a:ext uri="{FF2B5EF4-FFF2-40B4-BE49-F238E27FC236}">
                <a16:creationId xmlns:a16="http://schemas.microsoft.com/office/drawing/2014/main" id="{E4F165C9-2B0E-9D34-78B9-C420D4F4B551}"/>
              </a:ext>
            </a:extLst>
          </p:cNvPr>
          <p:cNvSpPr>
            <a:spLocks noGrp="1"/>
          </p:cNvSpPr>
          <p:nvPr>
            <p:ph idx="1"/>
          </p:nvPr>
        </p:nvSpPr>
        <p:spPr/>
        <p:txBody>
          <a:bodyPr/>
          <a:lstStyle/>
          <a:p>
            <a:r>
              <a:rPr lang="en-US" dirty="0"/>
              <a:t>d) Adjust the FAST and SLOW simulation to 20 m/s to keep the turbine at rated rotor speed and rated electrical power.</a:t>
            </a:r>
          </a:p>
          <a:p>
            <a:endParaRPr lang="en-US" dirty="0"/>
          </a:p>
          <a:p>
            <a:r>
              <a:rPr lang="en-US" dirty="0"/>
              <a:t>Pitch Angle = </a:t>
            </a:r>
            <a:r>
              <a:rPr lang="en-DE" dirty="0"/>
              <a:t>17.475</a:t>
            </a:r>
          </a:p>
          <a:p>
            <a:pPr marL="0" indent="0">
              <a:buNone/>
            </a:pPr>
            <a:br>
              <a:rPr lang="en-US" dirty="0"/>
            </a:br>
            <a:endParaRPr lang="en-DE" dirty="0"/>
          </a:p>
        </p:txBody>
      </p:sp>
      <p:sp>
        <p:nvSpPr>
          <p:cNvPr id="4" name="Date Placeholder 3">
            <a:extLst>
              <a:ext uri="{FF2B5EF4-FFF2-40B4-BE49-F238E27FC236}">
                <a16:creationId xmlns:a16="http://schemas.microsoft.com/office/drawing/2014/main" id="{BC875E7E-E24B-842B-DA44-B760C959479D}"/>
              </a:ext>
            </a:extLst>
          </p:cNvPr>
          <p:cNvSpPr>
            <a:spLocks noGrp="1"/>
          </p:cNvSpPr>
          <p:nvPr>
            <p:ph type="dt" sz="half" idx="10"/>
          </p:nvPr>
        </p:nvSpPr>
        <p:spPr/>
        <p:txBody>
          <a:bodyPr/>
          <a:lstStyle/>
          <a:p>
            <a:fld id="{D31324D8-EEDB-4CB3-89EA-5720E547D939}" type="datetime1">
              <a:rPr lang="LID4096" smtClean="0"/>
              <a:t>10/12/2025</a:t>
            </a:fld>
            <a:endParaRPr lang="en-DE"/>
          </a:p>
        </p:txBody>
      </p:sp>
      <p:sp>
        <p:nvSpPr>
          <p:cNvPr id="5" name="Footer Placeholder 4">
            <a:extLst>
              <a:ext uri="{FF2B5EF4-FFF2-40B4-BE49-F238E27FC236}">
                <a16:creationId xmlns:a16="http://schemas.microsoft.com/office/drawing/2014/main" id="{7BDEDED3-4D3E-62F1-238C-97B7BD80E335}"/>
              </a:ext>
            </a:extLst>
          </p:cNvPr>
          <p:cNvSpPr>
            <a:spLocks noGrp="1"/>
          </p:cNvSpPr>
          <p:nvPr>
            <p:ph type="ftr" sz="quarter" idx="11"/>
          </p:nvPr>
        </p:nvSpPr>
        <p:spPr/>
        <p:txBody>
          <a:bodyPr/>
          <a:lstStyle/>
          <a:p>
            <a:r>
              <a:rPr lang="en-US"/>
              <a:t>Group 3: Group 3: Federico De Mita, Waqas Ahmed, Dominic Annang, Hesham Magdy, Muthu Sivamuthu  </a:t>
            </a:r>
            <a:endParaRPr lang="en-DE"/>
          </a:p>
        </p:txBody>
      </p:sp>
      <p:sp>
        <p:nvSpPr>
          <p:cNvPr id="6" name="Slide Number Placeholder 5">
            <a:extLst>
              <a:ext uri="{FF2B5EF4-FFF2-40B4-BE49-F238E27FC236}">
                <a16:creationId xmlns:a16="http://schemas.microsoft.com/office/drawing/2014/main" id="{614B7FE3-DFB6-63BC-05BF-FFF960746610}"/>
              </a:ext>
            </a:extLst>
          </p:cNvPr>
          <p:cNvSpPr>
            <a:spLocks noGrp="1"/>
          </p:cNvSpPr>
          <p:nvPr>
            <p:ph type="sldNum" sz="quarter" idx="12"/>
          </p:nvPr>
        </p:nvSpPr>
        <p:spPr/>
        <p:txBody>
          <a:bodyPr/>
          <a:lstStyle/>
          <a:p>
            <a:fld id="{F9C2340B-4B0F-4DED-BE4C-833C39BBA64E}" type="slidenum">
              <a:rPr lang="en-DE" smtClean="0"/>
              <a:t>14</a:t>
            </a:fld>
            <a:endParaRPr lang="en-DE"/>
          </a:p>
        </p:txBody>
      </p:sp>
    </p:spTree>
    <p:extLst>
      <p:ext uri="{BB962C8B-B14F-4D97-AF65-F5344CB8AC3E}">
        <p14:creationId xmlns:p14="http://schemas.microsoft.com/office/powerpoint/2010/main" val="40071949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A4839-2787-6856-1695-E829A19E2C01}"/>
              </a:ext>
            </a:extLst>
          </p:cNvPr>
          <p:cNvSpPr>
            <a:spLocks noGrp="1"/>
          </p:cNvSpPr>
          <p:nvPr>
            <p:ph type="title"/>
          </p:nvPr>
        </p:nvSpPr>
        <p:spPr/>
        <p:txBody>
          <a:bodyPr/>
          <a:lstStyle/>
          <a:p>
            <a:r>
              <a:rPr lang="en-US" dirty="0"/>
              <a:t>Simulation Exercise</a:t>
            </a:r>
            <a:endParaRPr lang="en-DE" dirty="0"/>
          </a:p>
        </p:txBody>
      </p:sp>
      <p:pic>
        <p:nvPicPr>
          <p:cNvPr id="8" name="Content Placeholder 7">
            <a:extLst>
              <a:ext uri="{FF2B5EF4-FFF2-40B4-BE49-F238E27FC236}">
                <a16:creationId xmlns:a16="http://schemas.microsoft.com/office/drawing/2014/main" id="{E491DAF6-4C6F-FC49-9F8D-78C2CA732518}"/>
              </a:ext>
            </a:extLst>
          </p:cNvPr>
          <p:cNvPicPr>
            <a:picLocks noGrp="1" noChangeAspect="1"/>
          </p:cNvPicPr>
          <p:nvPr>
            <p:ph idx="1"/>
          </p:nvPr>
        </p:nvPicPr>
        <p:blipFill>
          <a:blip r:embed="rId2"/>
          <a:stretch>
            <a:fillRect/>
          </a:stretch>
        </p:blipFill>
        <p:spPr>
          <a:xfrm>
            <a:off x="663402" y="2156060"/>
            <a:ext cx="10011015" cy="3345764"/>
          </a:xfrm>
          <a:prstGeom prst="rect">
            <a:avLst/>
          </a:prstGeom>
        </p:spPr>
      </p:pic>
      <p:sp>
        <p:nvSpPr>
          <p:cNvPr id="4" name="Date Placeholder 3">
            <a:extLst>
              <a:ext uri="{FF2B5EF4-FFF2-40B4-BE49-F238E27FC236}">
                <a16:creationId xmlns:a16="http://schemas.microsoft.com/office/drawing/2014/main" id="{4396A35D-42A4-F069-2F9C-3FC9A810B119}"/>
              </a:ext>
            </a:extLst>
          </p:cNvPr>
          <p:cNvSpPr>
            <a:spLocks noGrp="1"/>
          </p:cNvSpPr>
          <p:nvPr>
            <p:ph type="dt" sz="half" idx="10"/>
          </p:nvPr>
        </p:nvSpPr>
        <p:spPr/>
        <p:txBody>
          <a:bodyPr/>
          <a:lstStyle/>
          <a:p>
            <a:fld id="{D3C555E5-E661-4D71-BF0C-368422F85DEB}" type="datetime1">
              <a:rPr lang="LID4096" smtClean="0"/>
              <a:t>10/12/2025</a:t>
            </a:fld>
            <a:endParaRPr lang="en-DE"/>
          </a:p>
        </p:txBody>
      </p:sp>
      <p:sp>
        <p:nvSpPr>
          <p:cNvPr id="5" name="Footer Placeholder 4">
            <a:extLst>
              <a:ext uri="{FF2B5EF4-FFF2-40B4-BE49-F238E27FC236}">
                <a16:creationId xmlns:a16="http://schemas.microsoft.com/office/drawing/2014/main" id="{36378F53-01DD-E832-8684-B4D671FE23ED}"/>
              </a:ext>
            </a:extLst>
          </p:cNvPr>
          <p:cNvSpPr>
            <a:spLocks noGrp="1"/>
          </p:cNvSpPr>
          <p:nvPr>
            <p:ph type="ftr" sz="quarter" idx="11"/>
          </p:nvPr>
        </p:nvSpPr>
        <p:spPr/>
        <p:txBody>
          <a:bodyPr/>
          <a:lstStyle/>
          <a:p>
            <a:r>
              <a:rPr lang="en-US"/>
              <a:t>Group 3: Group 3: Federico De Mita, Waqas Ahmed, Dominic Annang, Hesham Magdy, Muthu Sivamuthu  </a:t>
            </a:r>
            <a:endParaRPr lang="en-DE"/>
          </a:p>
        </p:txBody>
      </p:sp>
      <p:sp>
        <p:nvSpPr>
          <p:cNvPr id="6" name="Slide Number Placeholder 5">
            <a:extLst>
              <a:ext uri="{FF2B5EF4-FFF2-40B4-BE49-F238E27FC236}">
                <a16:creationId xmlns:a16="http://schemas.microsoft.com/office/drawing/2014/main" id="{42F21D06-3A41-4BC0-2246-39911ADD24E5}"/>
              </a:ext>
            </a:extLst>
          </p:cNvPr>
          <p:cNvSpPr>
            <a:spLocks noGrp="1"/>
          </p:cNvSpPr>
          <p:nvPr>
            <p:ph type="sldNum" sz="quarter" idx="12"/>
          </p:nvPr>
        </p:nvSpPr>
        <p:spPr/>
        <p:txBody>
          <a:bodyPr/>
          <a:lstStyle/>
          <a:p>
            <a:fld id="{F9C2340B-4B0F-4DED-BE4C-833C39BBA64E}" type="slidenum">
              <a:rPr lang="en-DE" smtClean="0"/>
              <a:t>15</a:t>
            </a:fld>
            <a:endParaRPr lang="en-DE"/>
          </a:p>
        </p:txBody>
      </p:sp>
    </p:spTree>
    <p:extLst>
      <p:ext uri="{BB962C8B-B14F-4D97-AF65-F5344CB8AC3E}">
        <p14:creationId xmlns:p14="http://schemas.microsoft.com/office/powerpoint/2010/main" val="1787144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F9CA0-C529-6E87-6A4A-8F3CE9958E35}"/>
              </a:ext>
            </a:extLst>
          </p:cNvPr>
          <p:cNvSpPr>
            <a:spLocks noGrp="1"/>
          </p:cNvSpPr>
          <p:nvPr>
            <p:ph type="title"/>
          </p:nvPr>
        </p:nvSpPr>
        <p:spPr/>
        <p:txBody>
          <a:bodyPr/>
          <a:lstStyle/>
          <a:p>
            <a:r>
              <a:rPr lang="en-US" dirty="0"/>
              <a:t>Simulation Exercise</a:t>
            </a:r>
            <a:endParaRPr lang="en-DE" dirty="0"/>
          </a:p>
        </p:txBody>
      </p:sp>
      <p:pic>
        <p:nvPicPr>
          <p:cNvPr id="8" name="Content Placeholder 7">
            <a:extLst>
              <a:ext uri="{FF2B5EF4-FFF2-40B4-BE49-F238E27FC236}">
                <a16:creationId xmlns:a16="http://schemas.microsoft.com/office/drawing/2014/main" id="{41CABD41-4753-BC92-C257-B1D15908DE39}"/>
              </a:ext>
            </a:extLst>
          </p:cNvPr>
          <p:cNvPicPr>
            <a:picLocks noGrp="1" noChangeAspect="1"/>
          </p:cNvPicPr>
          <p:nvPr>
            <p:ph idx="1"/>
          </p:nvPr>
        </p:nvPicPr>
        <p:blipFill>
          <a:blip r:embed="rId2"/>
          <a:stretch>
            <a:fillRect/>
          </a:stretch>
        </p:blipFill>
        <p:spPr>
          <a:xfrm>
            <a:off x="676295" y="2107932"/>
            <a:ext cx="9080767" cy="1073899"/>
          </a:xfrm>
          <a:prstGeom prst="rect">
            <a:avLst/>
          </a:prstGeom>
        </p:spPr>
      </p:pic>
      <p:sp>
        <p:nvSpPr>
          <p:cNvPr id="4" name="Date Placeholder 3">
            <a:extLst>
              <a:ext uri="{FF2B5EF4-FFF2-40B4-BE49-F238E27FC236}">
                <a16:creationId xmlns:a16="http://schemas.microsoft.com/office/drawing/2014/main" id="{44A15213-0091-5A6E-ADF8-E2B7FCA7C4C0}"/>
              </a:ext>
            </a:extLst>
          </p:cNvPr>
          <p:cNvSpPr>
            <a:spLocks noGrp="1"/>
          </p:cNvSpPr>
          <p:nvPr>
            <p:ph type="dt" sz="half" idx="10"/>
          </p:nvPr>
        </p:nvSpPr>
        <p:spPr/>
        <p:txBody>
          <a:bodyPr/>
          <a:lstStyle/>
          <a:p>
            <a:fld id="{CDE29E80-02F5-4E86-BCF8-1A0141DBD1F4}" type="datetime1">
              <a:rPr lang="LID4096" smtClean="0"/>
              <a:t>10/12/2025</a:t>
            </a:fld>
            <a:endParaRPr lang="en-DE"/>
          </a:p>
        </p:txBody>
      </p:sp>
      <p:sp>
        <p:nvSpPr>
          <p:cNvPr id="5" name="Footer Placeholder 4">
            <a:extLst>
              <a:ext uri="{FF2B5EF4-FFF2-40B4-BE49-F238E27FC236}">
                <a16:creationId xmlns:a16="http://schemas.microsoft.com/office/drawing/2014/main" id="{BA07E42E-2C81-9390-24AA-A21045B490D2}"/>
              </a:ext>
            </a:extLst>
          </p:cNvPr>
          <p:cNvSpPr>
            <a:spLocks noGrp="1"/>
          </p:cNvSpPr>
          <p:nvPr>
            <p:ph type="ftr" sz="quarter" idx="11"/>
          </p:nvPr>
        </p:nvSpPr>
        <p:spPr/>
        <p:txBody>
          <a:bodyPr/>
          <a:lstStyle/>
          <a:p>
            <a:r>
              <a:rPr lang="en-US"/>
              <a:t>Group 3: Group 3: Federico De Mita, Waqas Ahmed, Dominic Annang, Hesham Magdy, Muthu Sivamuthu  </a:t>
            </a:r>
            <a:endParaRPr lang="en-DE"/>
          </a:p>
        </p:txBody>
      </p:sp>
      <p:sp>
        <p:nvSpPr>
          <p:cNvPr id="6" name="Slide Number Placeholder 5">
            <a:extLst>
              <a:ext uri="{FF2B5EF4-FFF2-40B4-BE49-F238E27FC236}">
                <a16:creationId xmlns:a16="http://schemas.microsoft.com/office/drawing/2014/main" id="{D708659F-FDF5-F6F6-D294-DF833E1B5C0F}"/>
              </a:ext>
            </a:extLst>
          </p:cNvPr>
          <p:cNvSpPr>
            <a:spLocks noGrp="1"/>
          </p:cNvSpPr>
          <p:nvPr>
            <p:ph type="sldNum" sz="quarter" idx="12"/>
          </p:nvPr>
        </p:nvSpPr>
        <p:spPr/>
        <p:txBody>
          <a:bodyPr/>
          <a:lstStyle/>
          <a:p>
            <a:fld id="{F9C2340B-4B0F-4DED-BE4C-833C39BBA64E}" type="slidenum">
              <a:rPr lang="en-DE" smtClean="0"/>
              <a:t>16</a:t>
            </a:fld>
            <a:endParaRPr lang="en-DE"/>
          </a:p>
        </p:txBody>
      </p:sp>
    </p:spTree>
    <p:extLst>
      <p:ext uri="{BB962C8B-B14F-4D97-AF65-F5344CB8AC3E}">
        <p14:creationId xmlns:p14="http://schemas.microsoft.com/office/powerpoint/2010/main" val="6363671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A76C26-C097-7B92-D5F8-4F4B9F7719DA}"/>
              </a:ext>
            </a:extLst>
          </p:cNvPr>
          <p:cNvSpPr>
            <a:spLocks noGrp="1"/>
          </p:cNvSpPr>
          <p:nvPr>
            <p:ph type="title"/>
          </p:nvPr>
        </p:nvSpPr>
        <p:spPr/>
        <p:txBody>
          <a:bodyPr/>
          <a:lstStyle/>
          <a:p>
            <a:r>
              <a:rPr lang="en-US" dirty="0"/>
              <a:t>Simulation Exercise</a:t>
            </a:r>
            <a:endParaRPr lang="en-DE" dirty="0"/>
          </a:p>
        </p:txBody>
      </p:sp>
      <p:pic>
        <p:nvPicPr>
          <p:cNvPr id="8" name="Content Placeholder 7">
            <a:extLst>
              <a:ext uri="{FF2B5EF4-FFF2-40B4-BE49-F238E27FC236}">
                <a16:creationId xmlns:a16="http://schemas.microsoft.com/office/drawing/2014/main" id="{805D9149-8378-D1E2-B4B1-ED53F49528F9}"/>
              </a:ext>
            </a:extLst>
          </p:cNvPr>
          <p:cNvPicPr>
            <a:picLocks noGrp="1" noChangeAspect="1"/>
          </p:cNvPicPr>
          <p:nvPr>
            <p:ph idx="1"/>
          </p:nvPr>
        </p:nvPicPr>
        <p:blipFill>
          <a:blip r:embed="rId2"/>
          <a:stretch>
            <a:fillRect/>
          </a:stretch>
        </p:blipFill>
        <p:spPr>
          <a:xfrm>
            <a:off x="1113506" y="1825625"/>
            <a:ext cx="9964988" cy="4351338"/>
          </a:xfrm>
          <a:prstGeom prst="rect">
            <a:avLst/>
          </a:prstGeom>
        </p:spPr>
      </p:pic>
      <p:sp>
        <p:nvSpPr>
          <p:cNvPr id="4" name="Date Placeholder 3">
            <a:extLst>
              <a:ext uri="{FF2B5EF4-FFF2-40B4-BE49-F238E27FC236}">
                <a16:creationId xmlns:a16="http://schemas.microsoft.com/office/drawing/2014/main" id="{5356498E-CD49-3211-4107-3E10D25EA339}"/>
              </a:ext>
            </a:extLst>
          </p:cNvPr>
          <p:cNvSpPr>
            <a:spLocks noGrp="1"/>
          </p:cNvSpPr>
          <p:nvPr>
            <p:ph type="dt" sz="half" idx="10"/>
          </p:nvPr>
        </p:nvSpPr>
        <p:spPr/>
        <p:txBody>
          <a:bodyPr/>
          <a:lstStyle/>
          <a:p>
            <a:fld id="{B67746F4-868C-43D4-8D8E-F7E0316B746F}" type="datetime1">
              <a:rPr lang="LID4096" smtClean="0"/>
              <a:t>10/12/2025</a:t>
            </a:fld>
            <a:endParaRPr lang="en-DE"/>
          </a:p>
        </p:txBody>
      </p:sp>
      <p:sp>
        <p:nvSpPr>
          <p:cNvPr id="5" name="Footer Placeholder 4">
            <a:extLst>
              <a:ext uri="{FF2B5EF4-FFF2-40B4-BE49-F238E27FC236}">
                <a16:creationId xmlns:a16="http://schemas.microsoft.com/office/drawing/2014/main" id="{9149BCD2-E85C-58A8-2352-7EC8A17BB4B4}"/>
              </a:ext>
            </a:extLst>
          </p:cNvPr>
          <p:cNvSpPr>
            <a:spLocks noGrp="1"/>
          </p:cNvSpPr>
          <p:nvPr>
            <p:ph type="ftr" sz="quarter" idx="11"/>
          </p:nvPr>
        </p:nvSpPr>
        <p:spPr/>
        <p:txBody>
          <a:bodyPr/>
          <a:lstStyle/>
          <a:p>
            <a:r>
              <a:rPr lang="en-US"/>
              <a:t>Group 3: Group 3: Federico De Mita, Waqas Ahmed, Dominic Annang, Hesham Magdy, Muthu Sivamuthu  </a:t>
            </a:r>
            <a:endParaRPr lang="en-DE"/>
          </a:p>
        </p:txBody>
      </p:sp>
      <p:sp>
        <p:nvSpPr>
          <p:cNvPr id="6" name="Slide Number Placeholder 5">
            <a:extLst>
              <a:ext uri="{FF2B5EF4-FFF2-40B4-BE49-F238E27FC236}">
                <a16:creationId xmlns:a16="http://schemas.microsoft.com/office/drawing/2014/main" id="{111E428C-95BE-E9D2-E38A-991C91179256}"/>
              </a:ext>
            </a:extLst>
          </p:cNvPr>
          <p:cNvSpPr>
            <a:spLocks noGrp="1"/>
          </p:cNvSpPr>
          <p:nvPr>
            <p:ph type="sldNum" sz="quarter" idx="12"/>
          </p:nvPr>
        </p:nvSpPr>
        <p:spPr/>
        <p:txBody>
          <a:bodyPr/>
          <a:lstStyle/>
          <a:p>
            <a:fld id="{F9C2340B-4B0F-4DED-BE4C-833C39BBA64E}" type="slidenum">
              <a:rPr lang="en-DE" smtClean="0"/>
              <a:t>17</a:t>
            </a:fld>
            <a:endParaRPr lang="en-DE"/>
          </a:p>
        </p:txBody>
      </p:sp>
    </p:spTree>
    <p:extLst>
      <p:ext uri="{BB962C8B-B14F-4D97-AF65-F5344CB8AC3E}">
        <p14:creationId xmlns:p14="http://schemas.microsoft.com/office/powerpoint/2010/main" val="12918278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4DA6B810F4591A4CB58934AE84F23F77" ma:contentTypeVersion="1" ma:contentTypeDescription="Ein neues Dokument erstellen." ma:contentTypeScope="" ma:versionID="fafb7c855b2265bf33525f9980553f70">
  <xsd:schema xmlns:xsd="http://www.w3.org/2001/XMLSchema" xmlns:xs="http://www.w3.org/2001/XMLSchema" xmlns:p="http://schemas.microsoft.com/office/2006/metadata/properties" xmlns:ns3="1bb79e81-dc70-43c8-bec3-325dabe99c04" targetNamespace="http://schemas.microsoft.com/office/2006/metadata/properties" ma:root="true" ma:fieldsID="c1ad8fcfdd7c19050b605011e7904b27" ns3:_="">
    <xsd:import namespace="1bb79e81-dc70-43c8-bec3-325dabe99c04"/>
    <xsd:element name="properties">
      <xsd:complexType>
        <xsd:sequence>
          <xsd:element name="documentManagement">
            <xsd:complexType>
              <xsd:all>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b79e81-dc70-43c8-bec3-325dabe99c04"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C224771-1E3B-4C32-AF2C-191D6D02C4D7}">
  <ds:schemaRefs>
    <ds:schemaRef ds:uri="http://schemas.microsoft.com/sharepoint/v3/contenttype/forms"/>
  </ds:schemaRefs>
</ds:datastoreItem>
</file>

<file path=customXml/itemProps2.xml><?xml version="1.0" encoding="utf-8"?>
<ds:datastoreItem xmlns:ds="http://schemas.openxmlformats.org/officeDocument/2006/customXml" ds:itemID="{4B082335-6F20-40E3-8A6B-9F6FEFBF4E1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bb79e81-dc70-43c8-bec3-325dabe99c0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9175621-CD6C-497F-BE7E-1534DFF69F21}">
  <ds:schemaRefs>
    <ds:schemaRef ds:uri="http://purl.org/dc/elements/1.1/"/>
    <ds:schemaRef ds:uri="http://schemas.microsoft.com/office/2006/documentManagement/type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1bb79e81-dc70-43c8-bec3-325dabe99c04"/>
    <ds:schemaRef ds:uri="http://www.w3.org/XML/1998/namespace"/>
    <ds:schemaRef ds:uri="http://purl.org/dc/terms/"/>
  </ds:schemaRefs>
</ds:datastoreItem>
</file>

<file path=docProps/app.xml><?xml version="1.0" encoding="utf-8"?>
<Properties xmlns="http://schemas.openxmlformats.org/officeDocument/2006/extended-properties" xmlns:vt="http://schemas.openxmlformats.org/officeDocument/2006/docPropsVTypes">
  <TotalTime>1483</TotalTime>
  <Words>937</Words>
  <Application>Microsoft Office PowerPoint</Application>
  <PresentationFormat>Widescreen</PresentationFormat>
  <Paragraphs>116</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Aptos</vt:lpstr>
      <vt:lpstr>Aptos Display</vt:lpstr>
      <vt:lpstr>Arial</vt:lpstr>
      <vt:lpstr>Cambria Math</vt:lpstr>
      <vt:lpstr>Times New Roman</vt:lpstr>
      <vt:lpstr>Wingdings</vt:lpstr>
      <vt:lpstr>Office Theme</vt:lpstr>
      <vt:lpstr>Controller Design</vt:lpstr>
      <vt:lpstr>Content:</vt:lpstr>
      <vt:lpstr> NREL 5 MW Wind Turbine Specifications Exercise _1.a </vt:lpstr>
      <vt:lpstr>Uncontrolled Wind Turbine Exercise _1.1.b </vt:lpstr>
      <vt:lpstr>Uncontrolled Wind Turbine Exercise _1.1.c</vt:lpstr>
      <vt:lpstr>Controlled Wind Turbine Exercise _1.2.a </vt:lpstr>
      <vt:lpstr>Controlled Wind Turbine Exercise _1.2.b</vt:lpstr>
      <vt:lpstr>Simulation Exercise Exercise _1.3.b </vt:lpstr>
      <vt:lpstr>Parameter Adjustment</vt:lpstr>
      <vt:lpstr>Simulation Exercise Exercise _1.3.c</vt:lpstr>
      <vt:lpstr>Simulation Exercise</vt:lpstr>
      <vt:lpstr>Simulation Exercise</vt:lpstr>
      <vt:lpstr>Simulation Exercise</vt:lpstr>
      <vt:lpstr>Simulation Exercise Exercise _1.3.d</vt:lpstr>
      <vt:lpstr>Simulation Exercise</vt:lpstr>
      <vt:lpstr>Simulation Exercise</vt:lpstr>
      <vt:lpstr>Simulation Exercise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WAQAS AHMED</dc:creator>
  <cp:lastModifiedBy>WAQAS AHMED</cp:lastModifiedBy>
  <cp:revision>19</cp:revision>
  <dcterms:created xsi:type="dcterms:W3CDTF">2025-10-11T09:10:44Z</dcterms:created>
  <dcterms:modified xsi:type="dcterms:W3CDTF">2025-10-12T19:55:11Z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0x0101004DA6B810F4591A4CB58934AE84F23F77</vt:lpwstr>
  </property>
</Properties>
</file>